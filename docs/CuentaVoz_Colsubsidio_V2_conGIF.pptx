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1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7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CE-4EB2-A983-F178C86749AD}"/>
              </c:ext>
            </c:extLst>
          </c:dPt>
          <c:dPt>
            <c:idx val="1"/>
            <c:bubble3D val="0"/>
            <c:spPr>
              <a:solidFill>
                <a:srgbClr val="E4F0F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CE-4EB2-A983-F178C86749AD}"/>
              </c:ext>
            </c:extLst>
          </c:dPt>
          <c:cat>
            <c:strRef>
              <c:f>Sheet1!$A$2:$A$3</c:f>
              <c:strCache>
                <c:ptCount val="2"/>
                <c:pt idx="0">
                  <c:v>Exactitud primera pasada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88.2</c:v>
                </c:pt>
                <c:pt idx="1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CE-4EB2-A983-F178C867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57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0:20  ·  acumulado 0:20</a:t>
            </a:r>
          </a:p>
          <a:p/>
          <a:p>
            <a:r>
              <a:t>Buenos días. Somos StockXperts. Yo soy Diana, él es Luis.</a:t>
            </a:r>
          </a:p>
          <a:p>
            <a:r>
              <a:t>Traemos CuentaVoz: contar el inventario hablando, en vez de escribiendo.</a:t>
            </a:r>
          </a:p>
          <a:p>
            <a:r>
              <a:t>En diez minutos se lo mostramos funcionando con los datos reales de ustedes.</a:t>
            </a:r>
          </a:p>
          <a:p/>
          <a:p>
            <a:r>
              <a:t>&gt; No lea la diapositiva: ya se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1:00</a:t>
            </a:r>
          </a:p>
          <a:p/>
          <a:p>
            <a:r>
              <a:t>Hoy el inventario de una bodega se toma en papel. Alguien camina con una planilla, anota, y después otra persona lo digita en el sistema.</a:t>
            </a:r>
          </a:p>
          <a:p>
            <a:r>
              <a:t>Eso tiene tres costos: TIEMPO —se hace dos veces—, ERRORES —de letra, de digitación— y DEMORA: la diferencia se descubre semanas después, cuando ya nadie se acuerda de qué pasó.</a:t>
            </a:r>
          </a:p>
          <a:p/>
          <a:p>
            <a:r>
              <a:t>&gt; Pausa corta antes de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1:30</a:t>
            </a:r>
          </a:p>
          <a:p/>
          <a:p>
            <a:r>
              <a:t>Voz, inteligencia artificial y validaciones automáticas.</a:t>
            </a:r>
          </a:p>
          <a:p>
            <a:r>
              <a:t>La persona habla, el sistema entiende, valida contra el inventario y guarda.</a:t>
            </a:r>
          </a:p>
          <a:p>
            <a:r>
              <a:t>Una sola vez, en el sitio, y validado en el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2:10</a:t>
            </a:r>
          </a:p>
          <a:p/>
          <a:p>
            <a:r>
              <a:t>Cada vez que alguien habla pasan cinco pasos: escucha, interpreta, resuelve el artículo contra el catálogo oficial, valida y confirma.</a:t>
            </a:r>
          </a:p>
          <a:p>
            <a:r>
              <a:t>Y algo importante: el modelo interpreta, pero el que decide es el backend. La inteligencia artificial no escribe en la base de datos — propone, y unas reglas en código deciden si eso entra o no.</a:t>
            </a:r>
          </a:p>
          <a:p/>
          <a:p>
            <a:r>
              <a:t>&gt; Ese matiz tranquiliza a quien pregunta por confiabilidad de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2:50</a:t>
            </a:r>
          </a:p>
          <a:p/>
          <a:p>
            <a:r>
              <a:t>No es solo contar. Son los tres momentos del ciclo: el PEDIDO al almacén calculado por receta, el CONTEO de la bodega, y la LEGALIZACIÓN del servicio al final del turno.</a:t>
            </a:r>
          </a:p>
          <a:p>
            <a:r>
              <a:t>Todo sin salir de la misma aplicación, con la misma voz.</a:t>
            </a:r>
          </a:p>
          <a:p/>
          <a:p>
            <a:r>
              <a:t>&gt; Al terminar esta lámina deberían ir en 2:50.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cuenta · DIANA cierra  ·  2:00  ·  acumulado 4:50</a:t>
            </a:r>
          </a:p>
          <a:p/>
          <a:p>
            <a:r>
              <a:t>LUIS (1:10) — como auxiliar:</a:t>
            </a:r>
          </a:p>
          <a:p>
            <a:r>
              <a:t>1. Entro como auxiliar. Solo veo MIS bodegas asignadas, ninguna más.</a:t>
            </a:r>
          </a:p>
          <a:p>
            <a:r>
              <a:t>2. Abre una bodega. «Ya está abierta, con sus 133 referencias.»</a:t>
            </a:r>
          </a:p>
          <a:p>
            <a:r>
              <a:t>3. Toca el micrófono y dicta despacio: «papa criolla veinte kilos».</a:t>
            </a:r>
          </a:p>
          <a:p>
            <a:r>
              <a:t>4. Me repite lo que entendió y me pide confirmar. → confirma.</a:t>
            </a:r>
          </a:p>
          <a:p>
            <a:r>
              <a:t>5. Si sale diferencia: «Aquí me avisa que el sistema esperaba otra cantidad. ESTO es el hallazgo: se ve ahora, no en tres semanas.»</a:t>
            </a:r>
          </a:p>
          <a:p>
            <a:r>
              <a:t>6. Cuando termino, firmo mi conteo. → «Terminar y firmar mi conteo».</a:t>
            </a:r>
          </a:p>
          <a:p/>
          <a:p>
            <a:r>
              <a:t>DIANA (0:50) — como administradora:</a:t>
            </a:r>
          </a:p>
          <a:p>
            <a:r>
              <a:t>7. Yo recibo esa bodega firmada y hago el RECUENTO CIEGO: cuento sin ver sus números.</a:t>
            </a:r>
          </a:p>
          <a:p>
            <a:r>
              <a:t>8. Muestra la comparación: «aquí se revelan las tres columnas: el sistema, lo que contó Luis, lo que conté yo».</a:t>
            </a:r>
          </a:p>
          <a:p>
            <a:r>
              <a:t>9. Y se cierra con DOBLE FIRMA. Ninguno de los dos puede cerrar solo.</a:t>
            </a:r>
          </a:p>
          <a:p/>
          <a:p>
            <a:r>
              <a:t>&gt; NO use las capturas: abra la tableta.</a:t>
            </a:r>
          </a:p>
          <a:p>
            <a:r>
              <a:t>&gt; Si el micrófono falla, toque Teclado y escriba la misma frase. Es el respaldo real de la aplicación, no una excusa: dígalo así, «funciona en una bodega con ruido».</a:t>
            </a:r>
          </a:p>
          <a:p>
            <a:r>
              <a:t>&gt; CORTE: si a los 5:00 no han salido de la demo, córtenla y sigan.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5:30</a:t>
            </a:r>
          </a:p>
          <a:p/>
          <a:p>
            <a:r>
              <a:t>Lo que acaban de ver validó cuatro cosas sin que yo hiciera nada: que el artículo existe en el catálogo, que la unidad es la correcta, que la cantidad tiene sentido, y que yo tenía permiso sobre esa bodega.</a:t>
            </a:r>
          </a:p>
          <a:p>
            <a:r>
              <a:t>Si algo no cuadra, el conteo NO se detiene: queda marcado y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6:10</a:t>
            </a:r>
          </a:p>
          <a:p/>
          <a:p>
            <a:r>
              <a:t>Está en AWS: el frontend en S3 con CloudFront, el backend en EC2 con Docker, la base en RDS. La misma nube que ya usa Colsubsidio, así que no hay nada que migrar.</a:t>
            </a:r>
          </a:p>
          <a:p>
            <a:r>
              <a:t>Y cada cambio pasa por 149 pruebas automáticas antes de desplegarse. Si una falla, no llega a producción.</a:t>
            </a:r>
          </a:p>
          <a:p/>
          <a:p>
            <a:r>
              <a:t>&gt; Es la lámina donde más preguntan. No se extienda: si preguntan, hay tiempo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6:40</a:t>
            </a:r>
          </a:p>
          <a:p/>
          <a:p>
            <a:r>
              <a:t>Nada de esto es una maqueta: son las 54 bodegas de ustedes, 1.041 artículos del catálogo oficial y 1.405 registros de stock.</a:t>
            </a:r>
          </a:p>
          <a:p>
            <a:r>
              <a:t>Al cargarlo, el sistema encontró 79 saldos negativos — inventario que el sistema dice tener en menos que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7:10</a:t>
            </a:r>
          </a:p>
          <a:p/>
          <a:p>
            <a:r>
              <a:t>La identidad la maneja AWS Cognito, con verificación en dos pasos opcional. La clave nunca pasa por nuestro servidor.</a:t>
            </a:r>
          </a:p>
          <a:p>
            <a:r>
              <a:t>Y nada se borra: una corrección crea un registro nuevo que apunta al original. La trazabilidad es completa.</a:t>
            </a:r>
          </a:p>
          <a:p/>
          <a:p>
            <a:r>
              <a:t>&gt; Al terminar esta lámina deberían ir en 7:10.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7:40</a:t>
            </a:r>
          </a:p>
          <a:p/>
          <a:p>
            <a:r>
              <a:t>Decisiones con datos reales, no con memoria ni planillas sueltas.</a:t>
            </a:r>
          </a:p>
          <a:p>
            <a:r>
              <a:t>El auxiliar recupera tiempo, el administrador ve el estado en vivo.</a:t>
            </a:r>
          </a:p>
          <a:p/>
          <a:p>
            <a:r>
              <a:t>&gt; Una sola idea. No enumere las tres viñetas: escoja la que más le importe a quien tiene enfrente.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8:10</a:t>
            </a:r>
          </a:p>
          <a:p/>
          <a:p>
            <a:r>
              <a:t>No hay licencias por usuario. Sumar una bodega o veinte personas más no cuesta más. Se paga la infraestructura y el consumo de la IA por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8:40</a:t>
            </a:r>
          </a:p>
          <a:p/>
          <a:p>
            <a:r>
              <a:t>Hoy: prototipo real desplegado y funcionando.</a:t>
            </a:r>
          </a:p>
          <a:p>
            <a:r>
              <a:t>Próximo paso: cargar el archivo oficial de recetas y un piloto guiado en un grupo de bodegas.</a:t>
            </a:r>
          </a:p>
          <a:p>
            <a:r>
              <a:t>Visión: toda la operación de hotelería, integrada con My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9:20</a:t>
            </a:r>
          </a:p>
          <a:p/>
          <a:p>
            <a:r>
              <a:t>Para pasar del prototipo al piloto necesitamos cuatro cosas concretas: un SPONSOR dentro de Operaciones, un GRUPO DE BODEGAS para el piloto, el ARCHIVO OFICIAL DE RECETAS, y ACCESO A MY INVENTORY para cerrar el ciclo.</a:t>
            </a:r>
          </a:p>
          <a:p/>
          <a:p>
            <a:r>
              <a:t>&gt; ESTA LÁMINA NO SE SACRIFICA. Si va corto, recorte la 11 o la 12, nunca esta.</a:t>
            </a:r>
          </a:p>
          <a:p>
            <a:r>
              <a:t>&gt; Mire a la persona que puede decir que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0:15  ·  acumulado 9:35</a:t>
            </a:r>
          </a:p>
          <a:p/>
          <a:p>
            <a:r>
              <a:t>Somos el equipo StockXperts. Esto lo construimos nosotros, 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0:15  ·  acumulado 9:50</a:t>
            </a:r>
          </a:p>
          <a:p/>
          <a:p>
            <a:r>
              <a:t>Ahí está la dirección para que lo prueben ustedes mismos, con estas cuentas. Quedamos atentos a sus preguntas.</a:t>
            </a:r>
          </a:p>
          <a:p/>
          <a:p>
            <a:r>
              <a:t>&gt; Deje esta lámina puesta durante las preguntas: tiene la URL, las cuentas y el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4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2.png"/><Relationship Id="rId8" Type="http://schemas.openxmlformats.org/officeDocument/2006/relationships/image" Target="../media/image43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682496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41248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«Tu voz cuenta»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por voz para la captura de inventarios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1248" y="4617720"/>
            <a:ext cx="420624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41248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Hotelería  ·  Hackathon Colsubsidio × 30X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· Sede principal Colsubsidio · 31 de agosto de 2026</a:t>
            </a:r>
            <a:endParaRPr lang="en-US" sz="1150" dirty="0"/>
          </a:p>
        </p:txBody>
      </p:sp>
      <p:pic>
        <p:nvPicPr>
          <p:cNvPr id="13" name="Image 1" descr="/home/user/cuentavoz/frontend/public/colsubsidi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6172200"/>
            <a:ext cx="1828800" cy="34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conteo manual cuesta caro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buena parte del inventario en cocinas y bodegas pasa por un proceso 100% manual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57734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210" y="18859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7180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22910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970" y="18859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Digitación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2356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94360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688086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730" y="18859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7532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859536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953262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5490" y="18859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536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0080" y="28163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se escribe, se vuelve a escribir y se revisa a mano — cada paso es una oportunidad de error.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que ya conocemos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64008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1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876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9 registrado como 90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68680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dígito de más o de menos descuadra todo el inventario del mes.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502152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5"/>
          <p:cNvSpPr/>
          <p:nvPr/>
        </p:nvSpPr>
        <p:spPr>
          <a:xfrm>
            <a:off x="3730752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6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359" y="4127967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370832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incorrecta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3730752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Kilogramos anotados donde el catálogo espera litros o unidades.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6364224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29"/>
          <p:cNvSpPr/>
          <p:nvPr/>
        </p:nvSpPr>
        <p:spPr>
          <a:xfrm>
            <a:off x="6592824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7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431" y="4127967"/>
            <a:ext cx="266273" cy="26627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32904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confundido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6592824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puede ser dos referencias distintas del catálogo.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9226296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33"/>
          <p:cNvSpPr/>
          <p:nvPr/>
        </p:nvSpPr>
        <p:spPr>
          <a:xfrm>
            <a:off x="9454896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4" name="Image 8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9503" y="4127967"/>
            <a:ext cx="266273" cy="26627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94976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sin explicar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9454896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físico y lo registrado no cuadran, y nadie sabe bien por qué.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9" name="Text 3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solución, en una frase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automáticas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27101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90" y="319491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usuario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0428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7672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402" y="3194914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2867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32867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de bodega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810000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82440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114" y="3194914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34384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834384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catálogo oficial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15712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88152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826" y="3194914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0096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40096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y unidades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821424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293864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5538" y="3194914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45808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45808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 pedido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327136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79957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1250" y="3194914"/>
            <a:ext cx="321869" cy="3218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152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digitalmente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983284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30528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6962" y="3194914"/>
            <a:ext cx="321869" cy="32186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85723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985723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reportes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una misma plataforma — sin planillas, sin doble digitación.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piensa el agente en cada turno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cada vez que la persona habla — el modelo interpreta, pero solo el backend toca los datos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426464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141" y="2174077"/>
            <a:ext cx="296997" cy="296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Escuchar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4672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captura el audio y lo convierte en texto (español de Colombia).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90779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694176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53" y="2174077"/>
            <a:ext cx="296997" cy="296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Pensar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072384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interpreta la frase y devuelve la intención en un formato fijo.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7550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961888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565" y="2174077"/>
            <a:ext cx="296997" cy="29699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Actuar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40096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ejecuta la herramienta exacta: buscar, validar, guardar.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44321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0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277" y="2174077"/>
            <a:ext cx="296997" cy="29699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52944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607808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determinista: ¿existe?, ¿es posible?, ¿cuadra?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71092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10497312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3989" y="2174077"/>
            <a:ext cx="296997" cy="29699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20656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Responder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875520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contesta en voz y en pantalla; el estado queda actualizado.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2715768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4983480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251192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518904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640080" y="4800600"/>
            <a:ext cx="11173968" cy="777240"/>
          </a:xfrm>
          <a:prstGeom prst="roundRect">
            <a:avLst>
              <a:gd name="adj" fmla="val 11765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28"/>
          <p:cNvSpPr/>
          <p:nvPr/>
        </p:nvSpPr>
        <p:spPr>
          <a:xfrm>
            <a:off x="914400" y="4800600"/>
            <a:ext cx="10625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sostiene todo el diseño: el agente propone, el backend dispone.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momentos, una sola plataforma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pedido al almacén hasta la legalización del servicio — sin salir de CuentaVoz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91440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24" y="2246132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Pedido al almacén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91440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«Hoy preparamos cincuenta ajiacos» — el agente explota la receta, descuenta el stock disponible y calcula solo lo que de verdad falta pedir.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8912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466344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164" y="2246132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Toma física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6344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466344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Conteo y Bodegas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6344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dicta y el agente concilia contra el catálogo oficial, valida cantidades y unidades, y registra con trazabilidad completa.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3816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841248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04" y="2246132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Legalización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41248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841248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Legalización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41248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lo pedido contra lo realmente usado: el sobrante vuelve a bodega, la merma queda registrada y explicada.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4164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79068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 en acción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real funcionando en AWS — no una maqueta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46704" y="61081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Conteo por voz · Panel gerencial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pic>
        <p:nvPicPr>
          <p:cNvPr id="21" name="Picture 20" descr="recorrido-tablet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4394" y="1691640"/>
            <a:ext cx="3560163" cy="4343400"/>
          </a:xfrm>
          <a:prstGeom prst="rect">
            <a:avLst/>
          </a:prstGeom>
        </p:spPr>
      </p:pic>
    </p:spTree>
  </p:cSld>
  <p:clrMapOvr>
    <a:masterClrMapping/>
  </p:clrMapOvr>
  <p:transition spd="med" advTm="6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se guarda sin validar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 — el modelo interpreta, el backend decide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87" y="229916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que no coinciden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se concilia sola contra el catálogo oficial: TABLA ACRILICA PICAR BLANCO 50X38CM FB (97503004). Si hay dos candidatas, el agente pregunta.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492240" y="2194560"/>
            <a:ext cx="475488" cy="475488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847" y="229916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fuera de lo esperado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«noventa cazuelas» dispara: «el sistema espera alrededor de 10, ¿confirma 90?» — el famoso error del 9 registrado como 90, detenido en el origen.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68680" y="42519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35656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equivocadas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6868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kilos no se confunde con cinco gramos: cada artículo tiene su unidad oficial del catálogo, y el agente la hace respetar.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92240" y="42519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847" y="43565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imposibles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9224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cantidad negativa se rechaza con una explicación hablada, no con un error críptico de sistema.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simple, real y en producción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AWS con despliegue automático, y Gemini como cerebro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76809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" y="2306574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9844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o texto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8036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00837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246" y="2306574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872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3872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2064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24865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526" y="230657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900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77900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Docker · ECR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60604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84632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246888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323240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965" y="374501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6888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RDS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2"/>
          <p:cNvSpPr/>
          <p:nvPr/>
        </p:nvSpPr>
        <p:spPr>
          <a:xfrm>
            <a:off x="512064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588416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725" y="374501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103620" y="3017520"/>
            <a:ext cx="265176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26"/>
          <p:cNvSpPr/>
          <p:nvPr/>
        </p:nvSpPr>
        <p:spPr>
          <a:xfrm>
            <a:off x="777240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853592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485" y="3745017"/>
            <a:ext cx="245791" cy="24579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local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219456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stock, trazabilidad — 19 tablas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84632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lenguaje natural de bodega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749808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sin internet ni llave de IA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0944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3"/>
          <p:cNvSpPr/>
          <p:nvPr/>
        </p:nvSpPr>
        <p:spPr>
          <a:xfrm>
            <a:off x="60944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2465680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5"/>
          <p:cNvSpPr/>
          <p:nvPr/>
        </p:nvSpPr>
        <p:spPr>
          <a:xfrm>
            <a:off x="2465680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321912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37"/>
          <p:cNvSpPr/>
          <p:nvPr/>
        </p:nvSpPr>
        <p:spPr>
          <a:xfrm>
            <a:off x="4321912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178144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39"/>
          <p:cNvSpPr/>
          <p:nvPr/>
        </p:nvSpPr>
        <p:spPr>
          <a:xfrm>
            <a:off x="6178144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8034376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1"/>
          <p:cNvSpPr/>
          <p:nvPr/>
        </p:nvSpPr>
        <p:spPr>
          <a:xfrm>
            <a:off x="8034376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89060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43"/>
          <p:cNvSpPr/>
          <p:nvPr/>
        </p:nvSpPr>
        <p:spPr>
          <a:xfrm>
            <a:off x="989060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reales, no una demo simulada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extracto real que entregó Colsubsidio — cargado, probado y funcionando hoy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452360" y="19202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7452360" y="31181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745236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pasada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32320" y="5230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real del panel gerencial — calculado en vivo, sin curar.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data/BODEGAS_Y_STOCK.xlsx — verificado corriendo el cargador real contra el archivo que entregó Colsubsidio.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640080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67128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59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bodegas reales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cocinas, almacenes y kioscos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5032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867912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16712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67912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artículos del catálogo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7912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extracto oficial de My Inventory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913632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22959" y="409651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st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60520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59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1.405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registros de 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cargados y consultables en vivo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85032" y="3913632"/>
            <a:ext cx="2788920" cy="1737360"/>
          </a:xfrm>
          <a:prstGeom prst="roundRect">
            <a:avLst/>
          </a:prstGeom>
          <a:solidFill>
            <a:srgbClr val="FFCC00"/>
          </a:solidFill>
          <a:ln w="1016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103158"/>
          </a:solidFill>
          <a:ln w="1270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67912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03158"/>
                </a:solidFill>
                <a:latin typeface="Aptos Display"/>
              </a:rPr>
              <a:t>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7912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158"/>
                </a:solidFill>
                <a:latin typeface="Aptos"/>
              </a:rPr>
              <a:t>saldos negativos detectados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7912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34E5A"/>
                </a:solidFill>
                <a:latin typeface="Aptos"/>
              </a:rPr>
              <a:t>encontrados automáticamente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B4F8A"/>
                </a:solidFill>
                <a:latin typeface="Aptos"/>
              </a:rPr>
              <a:t>INDICADOR EJECUTIVO</a:t>
            </a:r>
          </a:p>
        </p:txBody>
      </p:sp>
      <p:sp>
        <p:nvSpPr>
          <p:cNvPr id="55" name="Oval 54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D6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!</a:t>
            </a:r>
          </a:p>
        </p:txBody>
      </p:sp>
    </p:spTree>
  </p:cSld>
  <p:clrMapOvr>
    <a:masterClrMapping/>
  </p:clrMapOvr>
  <p:transition spd="med" advTm="25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pensada desde el primer día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custodia el inventario de Colsubsidio — se blinda con la misma seriedad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216200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en AWS Cognito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 emite y verifica los tokens: la clave nunca pasa por nuestro servidor.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8912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61772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327" y="216200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dos pasos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opcional con app autenticadora, y recuperación de clave por correo.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3816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accessi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67" y="216200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AA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6676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con axe-core: cero incumplimientos WCAG A/AA en las 17 pantallas.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wifi_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6868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real: lo contado sin señal se sincroniza solo al volver — el conteo no se detiene.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8912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461772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327" y="4127967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no en un laptop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61772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 HTTPS por CloudFront. Cada cambio pasa por 149 pruebas automáticas antes de desplegarse.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3816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836676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367" y="4127967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inmutable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36676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borra: una corrección crea un registro nuevo que apunta al original.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0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significa para Colsubsidio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9728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04" y="2835920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datos reales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 memoria ni con planillas sueltas por bodega.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67512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844" y="2835920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0664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conteo, cada corrección y cada firma quedan registrados, con quién y cuándo.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109728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04" y="493904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toda la operación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plataforma sirve para una bodega o para las 54 — y para las que vengan.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67512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utensi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844" y="4939040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digitando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0664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en la cocina: la voz es más rápida que el teclado, y el teclado sigue como respaldo.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Sostenible por diseño: bajo costo, valor real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por usuario ni costos ocultos — el valor está en el tiempo y la exactitud que gana Colsubsidio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05840" y="2167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OPERARLO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05840" y="26517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447" y="275636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6334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la nube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645920" y="2926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gestionada en AWS: S3, CloudFront, EC2 y RDS. La misma nube que ya usa Colsubsidio.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05840" y="3767328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447" y="387193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749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IA por uso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645920" y="40416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lo que se usa en la API de Gemini, no una licencia fija por persona.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005840" y="4882896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3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447" y="498750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864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licencias por usuario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645920" y="51572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propio del equipo StockXperts: sumar una bodega o un usuario más no cuesta más.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309360" y="18745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 GENERA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2331720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64808" y="2660904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462" y="2773558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247802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re-digitando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32320" y="27889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reemplaza la doble digitación en papel y Excel: el tiempo vuelve a la cocina.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63640" y="3630168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6464808" y="3959352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462" y="4072006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37764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 humano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132320" y="408736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en el momento del conteo, no semanas después revisando planillas.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263640" y="4928616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6464808" y="5257800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462" y="537045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50749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más rápidas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32320" y="538581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gerencial muestra exactitud y alertas en vivo, sin esperar consolidados.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adopción dentro de Colsubsidio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apoya sobre la anterior — ya construida, probada y funcionando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54580" y="2203704"/>
            <a:ext cx="3749040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6103620" y="2203704"/>
            <a:ext cx="3749040" cy="0"/>
          </a:xfrm>
          <a:prstGeom prst="line">
            <a:avLst/>
          </a:prstGeom>
          <a:noFill/>
          <a:ln w="3810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025396" y="1874520"/>
            <a:ext cx="658368" cy="6583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988" y="2039112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91440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91440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1440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real, en producción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1440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AWS con despliegue automático desde GitHub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bodegas y 1.041 artículos reales cargados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Conteo, pedidos y legalización de punta a punta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74436" y="1874520"/>
            <a:ext cx="658368" cy="65836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2039112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38912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466344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466344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6344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ciclo con Colsubsidio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66344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archivo oficial de recetas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guiado en un grupo de bodegas reales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modelo de voz al vocabulario del equipo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523476" y="1874520"/>
            <a:ext cx="658368" cy="658368"/>
          </a:xfrm>
          <a:prstGeom prst="ellipse">
            <a:avLst/>
          </a:prstGeom>
          <a:solidFill>
            <a:srgbClr val="57575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068" y="2039112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3816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841248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0"/>
          <p:cNvSpPr/>
          <p:nvPr/>
        </p:nvSpPr>
        <p:spPr>
          <a:xfrm>
            <a:off x="841248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41248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operación de hotelería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41248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la operación completa de Colsubsidio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 como estándar de reporte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My Inventory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Colsubsidio hoy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compromisos concretos para pasar del prototipo al piloto real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31800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734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194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sponsor dentro de Operaciones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91640" y="2587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del equipo de bodegas o compras que apruebe y acompañe el piloto.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17754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822960" y="341528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57073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291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archivo oficial de recetas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3685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el ciclo de pedidos automáticos que ya está construido.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27482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22960" y="451256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6680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real de bodegas para el piloto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91640" y="47823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 guiadas en cocinas o almacenes reales, con StockXperts presente.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537210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" y="560984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7652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cada dos semanas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691640" y="58795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corta con la gerencia para ajustar el rumbo con datos reales del piloto.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StockXperts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detrás de CuentaVoz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353312" y="1389888"/>
            <a:ext cx="9144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u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1" y="2212848"/>
            <a:ext cx="1554480" cy="1554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59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Luis Guillermo Nieto Patiño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Diseño funcional y experiencia de usuario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02152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20440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85032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Luz Stephanie Puentes Morantes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85032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4760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Validación funcional y apoyo al desarrollo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4224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82512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Valent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2212848"/>
            <a:ext cx="1554480" cy="1554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47104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Valentina Burbano Salazar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7104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56832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Desarrollo Full Stack, arquitectura e integración de 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26296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44584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09176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Diana Carolina Argüello Casallas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09176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18904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Análisis de requerimientos y documentación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573"/>
                </a:solidFill>
                <a:latin typeface="Aptos"/>
              </a:rPr>
              <a:t>Equipo multidisciplinario · producto, tecnología, datos y validación funcional</a:t>
            </a:r>
          </a:p>
        </p:txBody>
      </p:sp>
      <p:pic>
        <p:nvPicPr>
          <p:cNvPr id="56" name="Picture 55" descr="Lu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2212848"/>
            <a:ext cx="1554480" cy="1554480"/>
          </a:xfrm>
          <a:prstGeom prst="rect">
            <a:avLst/>
          </a:prstGeom>
        </p:spPr>
      </p:pic>
      <p:pic>
        <p:nvPicPr>
          <p:cNvPr id="57" name="Picture 56" descr="diana_circular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6648" y="221284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preguntas y a dar el siguiente paso juntos.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tmp/claude-0/-home-user-cuentavoz/fdf2c082-f526-5e3d-b5a9-2784467fe58c/scratchpad/pitch/icons/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9832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862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Escríbanos por WhatsApp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81328" y="30998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313 389 8638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1248" y="3502152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6050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481328" y="3721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d13g9u0pgpag0b.cloudfront.net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1248" y="412394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" y="422681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105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presentación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481328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youtube.com/watch?v=4tSRTV5POd4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41248" y="4745736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/tmp/claude-0/-home-user-cuentavoz/fdf2c082-f526-5e3d-b5a9-2784467fe58c/scratchpad/pitch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" y="484860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4727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documentación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481328" y="4965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github.com/lnieto044/cuentavoz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41248" y="5440680"/>
            <a:ext cx="475488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841248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prueba: luis / diana  ·  Clave: StockXperts1</a:t>
            </a:r>
            <a:endParaRPr lang="en-US" sz="1100" dirty="0"/>
          </a:p>
        </p:txBody>
      </p:sp>
      <p:pic>
        <p:nvPicPr>
          <p:cNvPr id="24" name="Image 4" descr="/home/user/cuentavoz/frontend/public/colsubsidio-bl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5806440"/>
            <a:ext cx="2011680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 · Hackathon Colsubsidio × 30X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82328" y="1207008"/>
            <a:ext cx="2066544" cy="2304288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0"/>
          <p:cNvSpPr/>
          <p:nvPr/>
        </p:nvSpPr>
        <p:spPr>
          <a:xfrm>
            <a:off x="9482328" y="3163824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 pruébelo</a:t>
            </a:r>
            <a:endParaRPr lang="en-US" sz="1050" dirty="0"/>
          </a:p>
        </p:txBody>
      </p:sp>
      <p:pic>
        <p:nvPicPr>
          <p:cNvPr id="29" name="Picture 28" descr="_qr_tm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6920" y="1371600"/>
            <a:ext cx="1737360" cy="1737360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2242</Words>
  <Application>Microsoft Office PowerPoint</Application>
  <PresentationFormat>Panorámica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3</cp:revision>
  <dcterms:created xsi:type="dcterms:W3CDTF">2026-08-17T22:17:40Z</dcterms:created>
  <dcterms:modified xsi:type="dcterms:W3CDTF">2026-08-18T01:22:14Z</dcterms:modified>
</cp:coreProperties>
</file>