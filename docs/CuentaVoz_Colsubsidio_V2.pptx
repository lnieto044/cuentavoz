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11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Exactitud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67B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33CE-4EB2-A983-F178C86749AD}"/>
              </c:ext>
            </c:extLst>
          </c:dPt>
          <c:dPt>
            <c:idx val="1"/>
            <c:bubble3D val="0"/>
            <c:spPr>
              <a:solidFill>
                <a:srgbClr val="E4F0F9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33CE-4EB2-A983-F178C86749AD}"/>
              </c:ext>
            </c:extLst>
          </c:dPt>
          <c:cat>
            <c:strRef>
              <c:f>Sheet1!$A$2:$A$3</c:f>
              <c:strCache>
                <c:ptCount val="2"/>
                <c:pt idx="0">
                  <c:v>Exactitud primera pasada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88.2</c:v>
                </c:pt>
                <c:pt idx="1">
                  <c:v>11.8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CE-4EB2-A983-F178C86749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570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LUIS  ·  0:20  ·  acumulado 0:20</a:t>
            </a:r>
          </a:p>
          <a:p/>
          <a:p>
            <a:r>
              <a:t>Buenos días. Somos StockXperts. Yo soy Luis, ella es Diana.</a:t>
            </a:r>
          </a:p>
          <a:p>
            <a:r>
              <a:t>Traemos CuentaVoz: contar el inventario hablando, en vez de escribiendo.</a:t>
            </a:r>
          </a:p>
          <a:p>
            <a:r>
              <a:t>En diez minutos se lo mostramos funcionando con los datos reales de ustedes.</a:t>
            </a:r>
          </a:p>
          <a:p/>
          <a:p>
            <a:r>
              <a:t>&gt; No lea la diapositiva: ya se 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LUIS  ·  0:40  ·  acumulado 1:00</a:t>
            </a:r>
          </a:p>
          <a:p/>
          <a:p>
            <a:r>
              <a:t>Hoy el inventario de una bodega se toma en papel. Alguien camina con una planilla, anota, y después otra persona lo digita en el sistema.</a:t>
            </a:r>
          </a:p>
          <a:p>
            <a:r>
              <a:t>Eso tiene tres costos: TIEMPO —se hace dos veces—, ERRORES —de letra, de digitación— y DEMORA: la diferencia se descubre semanas después, cuando ya nadie se acuerda de qué pasó.</a:t>
            </a:r>
          </a:p>
          <a:p/>
          <a:p>
            <a:r>
              <a:t>&gt; Pausa corta antes de pasar.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LUIS  ·  0:30  ·  acumulado 1:30</a:t>
            </a:r>
          </a:p>
          <a:p/>
          <a:p>
            <a:r>
              <a:t>Voz, inteligencia artificial y validaciones automáticas.</a:t>
            </a:r>
          </a:p>
          <a:p>
            <a:r>
              <a:t>La persona habla, el sistema entiende, valida contra el inventario y guarda.</a:t>
            </a:r>
          </a:p>
          <a:p>
            <a:r>
              <a:t>Una sola vez, en el sitio, y validado en el momento.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DIANA  ·  0:40  ·  acumulado 2:10</a:t>
            </a:r>
          </a:p>
          <a:p/>
          <a:p>
            <a:r>
              <a:t>Cada vez que alguien habla pasan cinco pasos: escucha, interpreta, resuelve el artículo contra el catálogo oficial, valida y confirma.</a:t>
            </a:r>
          </a:p>
          <a:p>
            <a:r>
              <a:t>Y algo importante: el modelo interpreta, pero el que decide es el backend. La inteligencia artificial no escribe en la base de datos — propone, y unas reglas en código deciden si eso entra o no.</a:t>
            </a:r>
          </a:p>
          <a:p/>
          <a:p>
            <a:r>
              <a:t>&gt; Ese matiz tranquiliza a quien pregunta por confiabilidad de la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DIANA  ·  0:40  ·  acumulado 2:50</a:t>
            </a:r>
          </a:p>
          <a:p/>
          <a:p>
            <a:r>
              <a:t>No es solo contar. Son los tres momentos del ciclo: el PEDIDO al almacén calculado por receta, el CONTEO de la bodega, y la LEGALIZACIÓN del servicio al final del turno.</a:t>
            </a:r>
          </a:p>
          <a:p>
            <a:r>
              <a:t>Todo sin salir de la misma aplicación, con la misma voz.</a:t>
            </a:r>
          </a:p>
          <a:p/>
          <a:p>
            <a:r>
              <a:t>&gt; Al terminar esta lámina deberían ir en 2:50.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LUIS cuenta · DIANA cierra  ·  2:00  ·  acumulado 4:50</a:t>
            </a:r>
          </a:p>
          <a:p/>
          <a:p>
            <a:r>
              <a:t>LUIS (1:10) — como auxiliar:</a:t>
            </a:r>
          </a:p>
          <a:p>
            <a:r>
              <a:t>1. Entro como auxiliar. Solo veo MIS bodegas asignadas, ninguna más.</a:t>
            </a:r>
          </a:p>
          <a:p>
            <a:r>
              <a:t>2. Abre una bodega. «Ya está abierta, con sus 133 referencias.»</a:t>
            </a:r>
          </a:p>
          <a:p>
            <a:r>
              <a:t>3. Toca el micrófono y dicta despacio: «papa criolla veinte kilos».</a:t>
            </a:r>
          </a:p>
          <a:p>
            <a:r>
              <a:t>4. Me repite lo que entendió y me pide confirmar. → confirma.</a:t>
            </a:r>
          </a:p>
          <a:p>
            <a:r>
              <a:t>5. Si sale diferencia: «Aquí me avisa que el sistema esperaba otra cantidad. ESTO es el hallazgo: se ve ahora, no en tres semanas.»</a:t>
            </a:r>
          </a:p>
          <a:p>
            <a:r>
              <a:t>6. Cuando termino, firmo mi conteo. → «Terminar y firmar mi conteo».</a:t>
            </a:r>
          </a:p>
          <a:p/>
          <a:p>
            <a:r>
              <a:t>DIANA (0:50) — como administradora:</a:t>
            </a:r>
          </a:p>
          <a:p>
            <a:r>
              <a:t>7. Yo recibo esa bodega firmada y hago el RECUENTO CIEGO: cuento sin ver sus números.</a:t>
            </a:r>
          </a:p>
          <a:p>
            <a:r>
              <a:t>8. Muestra la comparación: «aquí se revelan las tres columnas: el sistema, lo que contó Luis, lo que conté yo».</a:t>
            </a:r>
          </a:p>
          <a:p>
            <a:r>
              <a:t>9. Y se cierra con DOBLE FIRMA. Ninguno de los dos puede cerrar solo.</a:t>
            </a:r>
          </a:p>
          <a:p/>
          <a:p>
            <a:r>
              <a:t>&gt; NO use las capturas: abra la tableta.</a:t>
            </a:r>
          </a:p>
          <a:p>
            <a:r>
              <a:t>&gt; Si el micrófono falla, toque Teclado y escriba la misma frase. Es el respaldo real de la aplicación, no una excusa: dígalo así, «funciona en una bodega con ruido».</a:t>
            </a:r>
          </a:p>
          <a:p>
            <a:r>
              <a:t>&gt; CORTE: si a los 5:00 no han salido de la demo, córtenla y sigan.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LUIS  ·  0:40  ·  acumulado 5:30</a:t>
            </a:r>
          </a:p>
          <a:p/>
          <a:p>
            <a:r>
              <a:t>Lo que acaban de ver validó cuatro cosas sin que yo hiciera nada: que el artículo existe en el catálogo, que la unidad es la correcta, que la cantidad tiene sentido, y que yo tenía permiso sobre esa bodega.</a:t>
            </a:r>
          </a:p>
          <a:p>
            <a:r>
              <a:t>Si algo no cuadra, el conteo NO se detiene: queda marcado y sigue.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DIANA  ·  0:40  ·  acumulado 6:10</a:t>
            </a:r>
          </a:p>
          <a:p/>
          <a:p>
            <a:r>
              <a:t>Está en AWS: el frontend en S3 con CloudFront, el backend en EC2 con Docker, la base en RDS. La misma nube que ya usa Colsubsidio, así que no hay nada que migrar.</a:t>
            </a:r>
          </a:p>
          <a:p>
            <a:r>
              <a:t>Y cada cambio pasa por 149 pruebas automáticas antes de desplegarse. Si una falla, no llega a producción.</a:t>
            </a:r>
          </a:p>
          <a:p/>
          <a:p>
            <a:r>
              <a:t>&gt; Es la lámina donde más preguntan. No se extienda: si preguntan, hay tiempo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DIANA  ·  0:30  ·  acumulado 6:40</a:t>
            </a:r>
          </a:p>
          <a:p/>
          <a:p>
            <a:r>
              <a:t>Nada de esto es una maqueta: son las 54 bodegas de ustedes, 1.041 artículos del catálogo oficial y 1.405 registros de stock.</a:t>
            </a:r>
          </a:p>
          <a:p>
            <a:r>
              <a:t>Al cargarlo, el sistema encontró 79 saldos negativos — inventario que el sistema dice tener en menos que cero.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LUIS  ·  0:30  ·  acumulado 7:10</a:t>
            </a:r>
          </a:p>
          <a:p/>
          <a:p>
            <a:r>
              <a:t>La identidad la maneja AWS Cognito, con verificación en dos pasos opcional. La clave nunca pasa por nuestro servidor.</a:t>
            </a:r>
          </a:p>
          <a:p>
            <a:r>
              <a:t>Y nada se borra: una corrección crea un registro nuevo que apunta al original. La trazabilidad es completa.</a:t>
            </a:r>
          </a:p>
          <a:p/>
          <a:p>
            <a:r>
              <a:t>&gt; Al terminar esta lámina deberían ir en 7:10.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LUIS  ·  0:30  ·  acumulado 7:40</a:t>
            </a:r>
          </a:p>
          <a:p/>
          <a:p>
            <a:r>
              <a:t>Decisiones con datos reales, no con memoria ni planillas sueltas.</a:t>
            </a:r>
          </a:p>
          <a:p>
            <a:r>
              <a:t>El auxiliar recupera tiempo, el administrador ve el estado en vivo.</a:t>
            </a:r>
          </a:p>
          <a:p/>
          <a:p>
            <a:r>
              <a:t>&gt; Una sola idea. No enumere las tres viñetas: escoja la que más le importe a quien tiene enfrente.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DIANA  ·  0:30  ·  acumulado 8:10</a:t>
            </a:r>
          </a:p>
          <a:p/>
          <a:p>
            <a:r>
              <a:t>No hay licencias por usuario. Sumar una bodega o veinte personas más no cuesta más. Se paga la infraestructura y el consumo de la IA por 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DIANA  ·  0:30  ·  acumulado 8:40</a:t>
            </a:r>
          </a:p>
          <a:p/>
          <a:p>
            <a:r>
              <a:t>Hoy: prototipo real desplegado y funcionando.</a:t>
            </a:r>
          </a:p>
          <a:p>
            <a:r>
              <a:t>Próximo paso: cargar el archivo oficial de recetas y un piloto guiado en un grupo de bodegas.</a:t>
            </a:r>
          </a:p>
          <a:p>
            <a:r>
              <a:t>Visión: toda la operación de hotelería, integrada con My Inventory.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LUIS  ·  0:40  ·  acumulado 9:20</a:t>
            </a:r>
          </a:p>
          <a:p/>
          <a:p>
            <a:r>
              <a:t>Para pasar del prototipo al piloto necesitamos cuatro cosas concretas: un SPONSOR dentro de Operaciones, un GRUPO DE BODEGAS para el piloto, el ARCHIVO OFICIAL DE RECETAS, y ACCESO A MY INVENTORY para cerrar el ciclo.</a:t>
            </a:r>
          </a:p>
          <a:p/>
          <a:p>
            <a:r>
              <a:t>&gt; ESTA LÁMINA NO SE SACRIFICA. Si va corto, recorte la 11 o la 12, nunca esta.</a:t>
            </a:r>
          </a:p>
          <a:p>
            <a:r>
              <a:t>&gt; Mire a la persona que puede decir que sí.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DIANA  ·  0:15  ·  acumulado 9:35</a:t>
            </a:r>
          </a:p>
          <a:p/>
          <a:p>
            <a:r>
              <a:t>Somos el equipo StockXperts. Esto lo construimos nosotros, de cero.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LUIS  ·  0:15  ·  acumulado 9:50</a:t>
            </a:r>
          </a:p>
          <a:p/>
          <a:p>
            <a:r>
              <a:t>Ahí está la dirección para que lo prueben ustedes mismos, con estas cuentas. Quedamos atentos a sus preguntas.</a:t>
            </a:r>
          </a:p>
          <a:p/>
          <a:p>
            <a:r>
              <a:t>&gt; Deje esta lámina puesta durante las preguntas: tiene la URL, las cuentas y el contacto.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029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1.png"/><Relationship Id="rId5" Type="http://schemas.openxmlformats.org/officeDocument/2006/relationships/image" Target="../media/image20.png"/><Relationship Id="rId6" Type="http://schemas.openxmlformats.org/officeDocument/2006/relationships/image" Target="../media/image7.png"/><Relationship Id="rId7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27.png"/><Relationship Id="rId5" Type="http://schemas.openxmlformats.org/officeDocument/2006/relationships/image" Target="../media/image9.png"/><Relationship Id="rId6" Type="http://schemas.openxmlformats.org/officeDocument/2006/relationships/image" Target="../media/image18.png"/><Relationship Id="rId7" Type="http://schemas.openxmlformats.org/officeDocument/2006/relationships/image" Target="../media/image11.png"/><Relationship Id="rId8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2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4.png"/><Relationship Id="rId5" Type="http://schemas.openxmlformats.org/officeDocument/2006/relationships/image" Target="../media/image29.png"/><Relationship Id="rId6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2.png"/><Relationship Id="rId8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1051560" cy="1051560"/>
          </a:xfrm>
          <a:prstGeom prst="roundRect">
            <a:avLst>
              <a:gd name="adj" fmla="val 19130"/>
            </a:avLst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5" name="Image 0" descr="/tmp/claude-0/-home-user-cuentavoz/fdf2c082-f526-5e3d-b5a9-2784467fe58c/scratchpad/pitch/icons/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1682496"/>
            <a:ext cx="530352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06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CuentaVoz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41248" y="34564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D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«Tu voz cuenta»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41248" y="39502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conversacional por voz para la captura de inventarios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41248" y="4617720"/>
            <a:ext cx="4206240" cy="0"/>
          </a:xfrm>
          <a:prstGeom prst="line">
            <a:avLst/>
          </a:prstGeom>
          <a:noFill/>
          <a:ln w="12700">
            <a:solidFill>
              <a:srgbClr val="2B4C7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841248" y="4800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de Hotelería  ·  Hackathon Colsubsidio × 30X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41248" y="5166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StockXperts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41248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final · Sede principal Colsubsidio · 31 de agosto de 2026</a:t>
            </a:r>
            <a:endParaRPr lang="en-US" sz="1150" dirty="0"/>
          </a:p>
        </p:txBody>
      </p:sp>
      <p:pic>
        <p:nvPicPr>
          <p:cNvPr id="13" name="Image 1" descr="/home/user/cuentavoz/frontend/public/colsubsidio-bl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6172200"/>
            <a:ext cx="1828800" cy="3474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8A6D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conteo manual cuesta caro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Hoy, buena parte del inventario en cocinas y bodegas pasa por un proceso 100% manual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64592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5F7FB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1577340" y="1783080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1" descr="/tmp/claude-0/-home-user-cuentavoz/fdf2c082-f526-5e3d-b5a9-2784467fe58c/scratchpad/pitch/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0210" y="188595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2304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2971800" y="1645920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3291840" y="164592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5F7FB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8"/>
          <p:cNvSpPr/>
          <p:nvPr/>
        </p:nvSpPr>
        <p:spPr>
          <a:xfrm>
            <a:off x="4229100" y="1783080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2" descr="/tmp/claude-0/-home-user-cuentavoz/fdf2c082-f526-5e3d-b5a9-2784467fe58c/scratchpad/pitch/icons/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1970" y="188595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91840" y="2304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Digitación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623560" y="1645920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5943600" y="164592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5F7FB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2"/>
          <p:cNvSpPr/>
          <p:nvPr/>
        </p:nvSpPr>
        <p:spPr>
          <a:xfrm>
            <a:off x="6880860" y="1783080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3" descr="/tmp/claude-0/-home-user-cuentavoz/fdf2c082-f526-5e3d-b5a9-2784467fe58c/scratchpad/pitch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3730" y="1885950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943600" y="2304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275320" y="1645920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8595360" y="164592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5F7FB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16"/>
          <p:cNvSpPr/>
          <p:nvPr/>
        </p:nvSpPr>
        <p:spPr>
          <a:xfrm>
            <a:off x="9532620" y="1783080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4" descr="/tmp/claude-0/-home-user-cuentavoz/fdf2c082-f526-5e3d-b5a9-2784467fe58c/scratchpad/pitch/icons/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5490" y="1885950"/>
            <a:ext cx="251460" cy="2514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595360" y="2304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640080" y="28163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dato se escribe, se vuelve a escribir y se revisa a mano — cada paso es una oportunidad de error.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640080" y="3310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errores que ya conocemos</a:t>
            </a:r>
            <a:endParaRPr lang="en-US" sz="1700" dirty="0"/>
          </a:p>
        </p:txBody>
      </p:sp>
      <p:sp>
        <p:nvSpPr>
          <p:cNvPr id="27" name="Shape 20"/>
          <p:cNvSpPr/>
          <p:nvPr/>
        </p:nvSpPr>
        <p:spPr>
          <a:xfrm>
            <a:off x="640080" y="37947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8" name="Shape 21"/>
          <p:cNvSpPr/>
          <p:nvPr/>
        </p:nvSpPr>
        <p:spPr>
          <a:xfrm>
            <a:off x="868680" y="4023360"/>
            <a:ext cx="475488" cy="475488"/>
          </a:xfrm>
          <a:prstGeom prst="ellipse">
            <a:avLst/>
          </a:prstGeom>
          <a:solidFill>
            <a:srgbClr val="B0002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9" name="Image 5" descr="/tmp/claude-0/-home-user-cuentavoz/fdf2c082-f526-5e3d-b5a9-2784467fe58c/scratchpad/pitch/icons/bu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287" y="4127967"/>
            <a:ext cx="266273" cy="26627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508760" y="39959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9 registrado como 90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868680" y="4581144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dígito de más o de menos descuadra todo el inventario del mes.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3502152" y="37947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Shape 25"/>
          <p:cNvSpPr/>
          <p:nvPr/>
        </p:nvSpPr>
        <p:spPr>
          <a:xfrm>
            <a:off x="3730752" y="4023360"/>
            <a:ext cx="475488" cy="475488"/>
          </a:xfrm>
          <a:prstGeom prst="ellipse">
            <a:avLst/>
          </a:prstGeom>
          <a:solidFill>
            <a:srgbClr val="B0002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4" name="Image 6" descr="/tmp/claude-0/-home-user-cuentavoz/fdf2c082-f526-5e3d-b5a9-2784467fe58c/scratchpad/pitch/icons/bu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5359" y="4127967"/>
            <a:ext cx="266273" cy="266273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370832" y="39959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unidad incorrecta</a:t>
            </a:r>
            <a:endParaRPr lang="en-US" sz="1500" dirty="0"/>
          </a:p>
        </p:txBody>
      </p:sp>
      <p:sp>
        <p:nvSpPr>
          <p:cNvPr id="36" name="Text 27"/>
          <p:cNvSpPr/>
          <p:nvPr/>
        </p:nvSpPr>
        <p:spPr>
          <a:xfrm>
            <a:off x="3730752" y="4581144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Kilogramos anotados donde el catálogo espera litros o unidades.</a:t>
            </a:r>
            <a:endParaRPr lang="en-US" sz="1150" dirty="0"/>
          </a:p>
        </p:txBody>
      </p:sp>
      <p:sp>
        <p:nvSpPr>
          <p:cNvPr id="37" name="Shape 28"/>
          <p:cNvSpPr/>
          <p:nvPr/>
        </p:nvSpPr>
        <p:spPr>
          <a:xfrm>
            <a:off x="6364224" y="37947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8" name="Shape 29"/>
          <p:cNvSpPr/>
          <p:nvPr/>
        </p:nvSpPr>
        <p:spPr>
          <a:xfrm>
            <a:off x="6592824" y="4023360"/>
            <a:ext cx="475488" cy="475488"/>
          </a:xfrm>
          <a:prstGeom prst="ellipse">
            <a:avLst/>
          </a:prstGeom>
          <a:solidFill>
            <a:srgbClr val="B0002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9" name="Image 7" descr="/tmp/claude-0/-home-user-cuentavoz/fdf2c082-f526-5e3d-b5a9-2784467fe58c/scratchpad/pitch/icons/bu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7431" y="4127967"/>
            <a:ext cx="266273" cy="266273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232904" y="39959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producto confundido</a:t>
            </a:r>
            <a:endParaRPr lang="en-US" sz="1500" dirty="0"/>
          </a:p>
        </p:txBody>
      </p:sp>
      <p:sp>
        <p:nvSpPr>
          <p:cNvPr id="41" name="Text 31"/>
          <p:cNvSpPr/>
          <p:nvPr/>
        </p:nvSpPr>
        <p:spPr>
          <a:xfrm>
            <a:off x="6592824" y="4581144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«Tabla para picar blanca» puede ser dos referencias distintas del catálogo.</a:t>
            </a:r>
            <a:endParaRPr lang="en-US" sz="1150" dirty="0"/>
          </a:p>
        </p:txBody>
      </p:sp>
      <p:sp>
        <p:nvSpPr>
          <p:cNvPr id="42" name="Shape 32"/>
          <p:cNvSpPr/>
          <p:nvPr/>
        </p:nvSpPr>
        <p:spPr>
          <a:xfrm>
            <a:off x="9226296" y="37947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3" name="Shape 33"/>
          <p:cNvSpPr/>
          <p:nvPr/>
        </p:nvSpPr>
        <p:spPr>
          <a:xfrm>
            <a:off x="9454896" y="4023360"/>
            <a:ext cx="475488" cy="475488"/>
          </a:xfrm>
          <a:prstGeom prst="ellipse">
            <a:avLst/>
          </a:prstGeom>
          <a:solidFill>
            <a:srgbClr val="B0002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4" name="Image 8" descr="/tmp/claude-0/-home-user-cuentavoz/fdf2c082-f526-5e3d-b5a9-2784467fe58c/scratchpad/pitch/icons/bu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9503" y="4127967"/>
            <a:ext cx="266273" cy="266273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10094976" y="39959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sin explicar</a:t>
            </a:r>
            <a:endParaRPr lang="en-US" sz="1500" dirty="0"/>
          </a:p>
        </p:txBody>
      </p:sp>
      <p:sp>
        <p:nvSpPr>
          <p:cNvPr id="46" name="Text 35"/>
          <p:cNvSpPr/>
          <p:nvPr/>
        </p:nvSpPr>
        <p:spPr>
          <a:xfrm>
            <a:off x="9454896" y="4581144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físico y lo registrado no cuadran, y nadie sabe bien por qué.</a:t>
            </a:r>
            <a:endParaRPr lang="en-US" sz="1150" dirty="0"/>
          </a:p>
        </p:txBody>
      </p:sp>
      <p:sp>
        <p:nvSpPr>
          <p:cNvPr id="48" name="Text 3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9" name="Text 37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250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114800"/>
            <a:ext cx="5486400" cy="5486400"/>
          </a:xfrm>
          <a:prstGeom prst="ellipse">
            <a:avLst/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solución, en una frase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D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Voz</a:t>
            </a:r>
            <a:r>
              <a:rPr lang="en-US" sz="3800" dirty="0">
                <a:solidFill>
                  <a:srgbClr val="8FA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</a:t>
            </a: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Inteligencia Artificial</a:t>
            </a:r>
            <a:r>
              <a:rPr lang="en-US" sz="3800" dirty="0">
                <a:solidFill>
                  <a:srgbClr val="8FA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</a:t>
            </a:r>
            <a:r>
              <a:rPr lang="en-US" sz="3800" b="1" dirty="0">
                <a:solidFill>
                  <a:srgbClr val="FFD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Validaciones automáticas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271016" y="3063240"/>
            <a:ext cx="585216" cy="585216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/tmp/claude-0/-home-user-cuentavoz/fdf2c082-f526-5e3d-b5a9-2784467fe58c/scratchpad/pitch/icons/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690" y="3194914"/>
            <a:ext cx="321869" cy="3218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77647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405079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usuario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304288" y="3081528"/>
            <a:ext cx="2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776728" y="3063240"/>
            <a:ext cx="585216" cy="585216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/tmp/claude-0/-home-user-cuentavoz/fdf2c082-f526-5e3d-b5a9-2784467fe58c/scratchpad/pitch/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8402" y="3194914"/>
            <a:ext cx="321869" cy="3218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28672" y="377647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328672" y="405079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lenguaje de bodega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3810000" y="3081528"/>
            <a:ext cx="2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282440" y="3063240"/>
            <a:ext cx="585216" cy="585216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2" descr="/tmp/claude-0/-home-user-cuentavoz/fdf2c082-f526-5e3d-b5a9-2784467fe58c/scratchpad/pitch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4114" y="3194914"/>
            <a:ext cx="321869" cy="3218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34384" y="377647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3834384" y="405079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el catálogo oficial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5315712" y="3081528"/>
            <a:ext cx="2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788152" y="3063240"/>
            <a:ext cx="585216" cy="585216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1" name="Image 3" descr="/tmp/claude-0/-home-user-cuentavoz/fdf2c082-f526-5e3d-b5a9-2784467fe58c/scratchpad/pitch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9826" y="3194914"/>
            <a:ext cx="321869" cy="3218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40096" y="377647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340096" y="405079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cantidades y unidades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6821424" y="3081528"/>
            <a:ext cx="2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7293864" y="3063240"/>
            <a:ext cx="585216" cy="585216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6" name="Image 4" descr="/tmp/claude-0/-home-user-cuentavoz/fdf2c082-f526-5e3d-b5a9-2784467fe58c/scratchpad/pitch/icons/clip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5538" y="3194914"/>
            <a:ext cx="321869" cy="32186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45808" y="377647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845808" y="405079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necesidades de pedido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8327136" y="3081528"/>
            <a:ext cx="2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8799576" y="3063240"/>
            <a:ext cx="585216" cy="585216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1" name="Image 5" descr="/tmp/claude-0/-home-user-cuentavoz/fdf2c082-f526-5e3d-b5a9-2784467fe58c/scratchpad/pitch/icons/fi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1250" y="3194914"/>
            <a:ext cx="321869" cy="32186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377647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351520" y="405079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digitalmente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9832848" y="3081528"/>
            <a:ext cx="2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27"/>
          <p:cNvSpPr/>
          <p:nvPr/>
        </p:nvSpPr>
        <p:spPr>
          <a:xfrm>
            <a:off x="10305288" y="3063240"/>
            <a:ext cx="585216" cy="585216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6" name="Image 6" descr="/tmp/claude-0/-home-user-cuentavoz/fdf2c082-f526-5e3d-b5a9-2784467fe58c/scratchpad/pitch/icons/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6962" y="3194914"/>
            <a:ext cx="321869" cy="321869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857232" y="377647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9857232" y="405079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y reportes</a:t>
            </a:r>
            <a:endParaRPr lang="en-US" sz="950" dirty="0"/>
          </a:p>
        </p:txBody>
      </p:sp>
      <p:sp>
        <p:nvSpPr>
          <p:cNvPr id="39" name="Text 30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D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dentro de una misma plataforma — sin planillas, sin doble digitación.</a:t>
            </a:r>
            <a:endParaRPr lang="en-US" sz="1400" dirty="0"/>
          </a:p>
        </p:txBody>
      </p:sp>
      <p:sp>
        <p:nvSpPr>
          <p:cNvPr id="41" name="Text 31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2" name="Text 32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200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piensa el agente en cada turno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pasos, cada vez que la persona habla — el modelo interpreta, pero solo el backend toca los datos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E4F0F9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1426464" y="2057400"/>
            <a:ext cx="530352" cy="530352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1" descr="/tmp/claude-0/-home-user-cuentavoz/fdf2c082-f526-5e3d-b5a9-2784467fe58c/scratchpad/pitch/icons/m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141" y="2174077"/>
            <a:ext cx="296997" cy="2969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27432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Escuchar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04672" y="3127248"/>
            <a:ext cx="17739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tableta captura el audio y lo convierte en texto (español de Colombia).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907792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5F7FB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8"/>
          <p:cNvSpPr/>
          <p:nvPr/>
        </p:nvSpPr>
        <p:spPr>
          <a:xfrm>
            <a:off x="3694176" y="2057400"/>
            <a:ext cx="530352" cy="530352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2" descr="/tmp/claude-0/-home-user-cuentavoz/fdf2c082-f526-5e3d-b5a9-2784467fe58c/scratchpad/pitch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853" y="2174077"/>
            <a:ext cx="296997" cy="29699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017520" y="27432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Pensar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072384" y="3127248"/>
            <a:ext cx="17739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interpreta la frase y devuelve la intención en un formato fijo.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175504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E4F0F9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2"/>
          <p:cNvSpPr/>
          <p:nvPr/>
        </p:nvSpPr>
        <p:spPr>
          <a:xfrm>
            <a:off x="5961888" y="2057400"/>
            <a:ext cx="530352" cy="530352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3" descr="/tmp/claude-0/-home-user-cuentavoz/fdf2c082-f526-5e3d-b5a9-2784467fe58c/scratchpad/pitch/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8565" y="2174077"/>
            <a:ext cx="296997" cy="29699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85232" y="27432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Actuar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340096" y="3127248"/>
            <a:ext cx="17739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orquestador ejecuta la herramienta exacta: buscar, validar, guardar.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7443216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5F7FB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16"/>
          <p:cNvSpPr/>
          <p:nvPr/>
        </p:nvSpPr>
        <p:spPr>
          <a:xfrm>
            <a:off x="8229600" y="2057400"/>
            <a:ext cx="530352" cy="530352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4" descr="/tmp/claude-0/-home-user-cuentavoz/fdf2c082-f526-5e3d-b5a9-2784467fe58c/scratchpad/pitch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6277" y="2174077"/>
            <a:ext cx="296997" cy="29699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52944" y="27432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Validar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7607808" y="3127248"/>
            <a:ext cx="17739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duras en código determinista: ¿existe?, ¿es posible?, ¿cuadra?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9710928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E4F0F9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0"/>
          <p:cNvSpPr/>
          <p:nvPr/>
        </p:nvSpPr>
        <p:spPr>
          <a:xfrm>
            <a:off x="10497312" y="2057400"/>
            <a:ext cx="530352" cy="530352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8" name="Image 5" descr="/tmp/claude-0/-home-user-cuentavoz/fdf2c082-f526-5e3d-b5a9-2784467fe58c/scratchpad/pitch/icons/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3989" y="2174077"/>
            <a:ext cx="296997" cy="29699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820656" y="27432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Responder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9875520" y="3127248"/>
            <a:ext cx="17739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tableta contesta en voz y en pantalla; el estado queda actualizado.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2715768" y="299923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Text 24"/>
          <p:cNvSpPr/>
          <p:nvPr/>
        </p:nvSpPr>
        <p:spPr>
          <a:xfrm>
            <a:off x="4983480" y="299923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7251192" y="299923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Text 26"/>
          <p:cNvSpPr/>
          <p:nvPr/>
        </p:nvSpPr>
        <p:spPr>
          <a:xfrm>
            <a:off x="9518904" y="299923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27"/>
          <p:cNvSpPr/>
          <p:nvPr/>
        </p:nvSpPr>
        <p:spPr>
          <a:xfrm>
            <a:off x="640080" y="4800600"/>
            <a:ext cx="11173968" cy="777240"/>
          </a:xfrm>
          <a:prstGeom prst="roundRect">
            <a:avLst>
              <a:gd name="adj" fmla="val 11765"/>
            </a:avLst>
          </a:prstGeom>
          <a:solidFill>
            <a:srgbClr val="10294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Text 28"/>
          <p:cNvSpPr/>
          <p:nvPr/>
        </p:nvSpPr>
        <p:spPr>
          <a:xfrm>
            <a:off x="914400" y="4800600"/>
            <a:ext cx="10625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que sostiene todo el diseño: el agente propone, el backend dispone.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200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momentos, una sola plataforma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pedido al almacén hasta la legalización del servicio — sin salir de CuentaVoz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3429000" cy="37490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38100" dir="5400000" algn="bl" rotWithShape="0">
              <a:srgbClr val="1B3A6B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914400" y="2121408"/>
            <a:ext cx="566928" cy="56692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1" descr="/tmp/claude-0/-home-user-cuentavoz/fdf2c082-f526-5e3d-b5a9-2784467fe58c/scratchpad/pitch/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124" y="2246132"/>
            <a:ext cx="317480" cy="317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834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Pedido al almacén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914400" y="3255264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4F0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7"/>
          <p:cNvSpPr/>
          <p:nvPr/>
        </p:nvSpPr>
        <p:spPr>
          <a:xfrm>
            <a:off x="914400" y="32552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Pedidos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914400" y="37947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«Hoy preparamos cincuenta ajiacos» — el agente explota la receta, descuenta el stock disponible y calcula solo lo que de verdad falta pedir.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389120" y="1828800"/>
            <a:ext cx="3429000" cy="37490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38100" dir="5400000" algn="bl" rotWithShape="0">
              <a:srgbClr val="1B3A6B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0"/>
          <p:cNvSpPr/>
          <p:nvPr/>
        </p:nvSpPr>
        <p:spPr>
          <a:xfrm>
            <a:off x="4663440" y="2121408"/>
            <a:ext cx="566928" cy="56692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5" name="Image 2" descr="/tmp/claude-0/-home-user-cuentavoz/fdf2c082-f526-5e3d-b5a9-2784467fe58c/scratchpad/pitch/icons/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164" y="2246132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63440" y="2834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Toma física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4663440" y="3255264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4F0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3"/>
          <p:cNvSpPr/>
          <p:nvPr/>
        </p:nvSpPr>
        <p:spPr>
          <a:xfrm>
            <a:off x="4663440" y="32552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Conteo y Bodegas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663440" y="37947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dicta y el agente concilia contra el catálogo oficial, valida cantidades y unidades, y registra con trazabilidad completa.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138160" y="1828800"/>
            <a:ext cx="3429000" cy="37490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38100" dir="5400000" algn="bl" rotWithShape="0">
              <a:srgbClr val="1B3A6B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6"/>
          <p:cNvSpPr/>
          <p:nvPr/>
        </p:nvSpPr>
        <p:spPr>
          <a:xfrm>
            <a:off x="8412480" y="2121408"/>
            <a:ext cx="566928" cy="56692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2" name="Image 3" descr="/tmp/claude-0/-home-user-cuentavoz/fdf2c082-f526-5e3d-b5a9-2784467fe58c/scratchpad/pitch/icons/sca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7204" y="2246132"/>
            <a:ext cx="317480" cy="317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12480" y="2834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Legalización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8412480" y="3255264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4F0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19"/>
          <p:cNvSpPr/>
          <p:nvPr/>
        </p:nvSpPr>
        <p:spPr>
          <a:xfrm>
            <a:off x="8412480" y="32552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Legalización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8412480" y="37947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 lo pedido contra lo realmente usado: el sobrante vuelve a bodega, la merma queda registrada y explicada.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041648" y="3474720"/>
            <a:ext cx="374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7790688" y="3474720"/>
            <a:ext cx="374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Text 23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150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CuentaVoz en acción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reales de producción en AWS — no una maqueta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824500" y="1728216"/>
            <a:ext cx="2924992" cy="4727448"/>
          </a:xfrm>
          <a:prstGeom prst="roundRect">
            <a:avLst>
              <a:gd name="adj" fmla="val 4377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27000" dist="508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7" name="Image 1" descr="/home/user/cuentavoz/docs/capturas/tablet/inicio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79364" y="1783080"/>
            <a:ext cx="2815264" cy="4617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79364" y="6547104"/>
            <a:ext cx="281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879364" y="6839712"/>
            <a:ext cx="281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resumen del día, según el perfil de quien entra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96965" y="1728216"/>
            <a:ext cx="2529236" cy="4727448"/>
          </a:xfrm>
          <a:prstGeom prst="roundRect">
            <a:avLst>
              <a:gd name="adj" fmla="val 506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27000" dist="508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1" name="Image 2" descr="/home/user/cuentavoz/docs/capturas/tablet/conteo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51829" y="1783080"/>
            <a:ext cx="2419508" cy="46177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51829" y="6547104"/>
            <a:ext cx="2419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 por voz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5151829" y="6839712"/>
            <a:ext cx="2419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tableta escucha, concilia y valida en tiempo real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7973673" y="1728216"/>
            <a:ext cx="2393522" cy="4727448"/>
          </a:xfrm>
          <a:prstGeom prst="roundRect">
            <a:avLst>
              <a:gd name="adj" fmla="val 534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27000" dist="508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5" name="Image 3" descr="/home/user/cuentavoz/docs/capturas/tablet/panel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28537" y="1783080"/>
            <a:ext cx="2283794" cy="46177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28537" y="6547104"/>
            <a:ext cx="22837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gerencial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8028537" y="6839712"/>
            <a:ext cx="2283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Exactitud, diferencias y stock — calculado en vivo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600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Nada se guarda sin validar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duras en código determinista — el modelo interpreta, el backend decide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5257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868680" y="2194560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1" descr="/tmp/claude-0/-home-user-cuentavoz/fdf2c082-f526-5e3d-b5a9-2784467fe58c/scratchpad/pitch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287" y="2299167"/>
            <a:ext cx="266273" cy="2662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1671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que no coinciden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68680" y="2752344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«tabla para picar blanca» se concilia sola contra el catálogo oficial: TABLA ACRILICA PICAR BLANCO 50X38CM FB (97503004). Si hay dos candidatas, el agente pregunta.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63640" y="1965960"/>
            <a:ext cx="5257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8"/>
          <p:cNvSpPr/>
          <p:nvPr/>
        </p:nvSpPr>
        <p:spPr>
          <a:xfrm>
            <a:off x="6492240" y="2194560"/>
            <a:ext cx="475488" cy="475488"/>
          </a:xfrm>
          <a:prstGeom prst="ellipse">
            <a:avLst/>
          </a:prstGeom>
          <a:solidFill>
            <a:srgbClr val="8A6D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2" descr="/tmp/claude-0/-home-user-cuentavoz/fdf2c082-f526-5e3d-b5a9-2784467fe58c/scratchpad/pitch/icons/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6847" y="2299167"/>
            <a:ext cx="266273" cy="2662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0" y="21671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Cantidades fuera de lo esperado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492240" y="2752344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«noventa cazuelas» dispara: «el sistema espera alrededor de 10, ¿confirma 90?» — el famoso error del 9 registrado como 90, detenido en el origen.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023360"/>
            <a:ext cx="5257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2"/>
          <p:cNvSpPr/>
          <p:nvPr/>
        </p:nvSpPr>
        <p:spPr>
          <a:xfrm>
            <a:off x="868680" y="4251960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3" descr="/tmp/claude-0/-home-user-cuentavoz/fdf2c082-f526-5e3d-b5a9-2784467fe58c/scratchpad/pitch/icons/sca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287" y="4356567"/>
            <a:ext cx="266273" cy="26627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2245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equivocadas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68680" y="4809744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kilos no se confunde con cinco gramos: cada artículo tiene su unidad oficial del catálogo, y el agente la hace respetar.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263640" y="4023360"/>
            <a:ext cx="5257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16"/>
          <p:cNvSpPr/>
          <p:nvPr/>
        </p:nvSpPr>
        <p:spPr>
          <a:xfrm>
            <a:off x="6492240" y="4251960"/>
            <a:ext cx="475488" cy="475488"/>
          </a:xfrm>
          <a:prstGeom prst="ellipse">
            <a:avLst/>
          </a:prstGeom>
          <a:solidFill>
            <a:srgbClr val="B0002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4" descr="/tmp/claude-0/-home-user-cuentavoz/fdf2c082-f526-5e3d-b5a9-2784467fe58c/scratchpad/pitch/icons/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6847" y="4356567"/>
            <a:ext cx="266273" cy="26627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32320" y="42245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Saldos imposibles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492240" y="4809744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cantidad negativa se rechaza con una explicación hablada, no con un error críptico de sistema.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200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Arquitectura: simple, real y en producción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Desplegado en AWS con despliegue automático, y Gemini como cerebro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E4F0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768096" y="2203704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1" descr="/tmp/claude-0/-home-user-cuentavoz/fdf2c082-f526-5e3d-b5a9-2784467fe58c/scratchpad/pitch/icons/m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966" y="2306574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0939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298448" y="2468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o texto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880360" y="196596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E4F0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8"/>
          <p:cNvSpPr/>
          <p:nvPr/>
        </p:nvSpPr>
        <p:spPr>
          <a:xfrm>
            <a:off x="3008376" y="2203704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2" descr="/tmp/claude-0/-home-user-cuentavoz/fdf2c082-f526-5e3d-b5a9-2784467fe58c/scratchpad/pitch/icons/re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1246" y="2306574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38728" y="20939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538728" y="2468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CloudFront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120640" y="196596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10294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2"/>
          <p:cNvSpPr/>
          <p:nvPr/>
        </p:nvSpPr>
        <p:spPr>
          <a:xfrm>
            <a:off x="5248656" y="2203704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3" descr="/tmp/claude-0/-home-user-cuentavoz/fdf2c082-f526-5e3d-b5a9-2784467fe58c/scratchpad/pitch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526" y="2306574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779008" y="20939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5779008" y="2468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+ Docker · ECR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2606040" y="196596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4846320" y="196596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6103620" y="3017520"/>
            <a:ext cx="0" cy="502920"/>
          </a:xfrm>
          <a:prstGeom prst="line">
            <a:avLst/>
          </a:prstGeom>
          <a:noFill/>
          <a:ln w="19050">
            <a:solidFill>
              <a:srgbClr val="D8E2EC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18"/>
          <p:cNvSpPr/>
          <p:nvPr/>
        </p:nvSpPr>
        <p:spPr>
          <a:xfrm>
            <a:off x="2468880" y="352044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F5F7FB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19"/>
          <p:cNvSpPr/>
          <p:nvPr/>
        </p:nvSpPr>
        <p:spPr>
          <a:xfrm>
            <a:off x="3232404" y="3648456"/>
            <a:ext cx="438912" cy="438912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6" name="Image 4" descr="/tmp/claude-0/-home-user-cuentavoz/fdf2c082-f526-5e3d-b5a9-2784467fe58c/scratchpad/pitch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8965" y="3745017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468880" y="40873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RDS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103620" y="3017520"/>
            <a:ext cx="0" cy="502920"/>
          </a:xfrm>
          <a:prstGeom prst="line">
            <a:avLst/>
          </a:prstGeom>
          <a:noFill/>
          <a:ln w="19050">
            <a:solidFill>
              <a:srgbClr val="D8E2EC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2"/>
          <p:cNvSpPr/>
          <p:nvPr/>
        </p:nvSpPr>
        <p:spPr>
          <a:xfrm>
            <a:off x="5120640" y="352044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F5F7FB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3"/>
          <p:cNvSpPr/>
          <p:nvPr/>
        </p:nvSpPr>
        <p:spPr>
          <a:xfrm>
            <a:off x="5884164" y="3648456"/>
            <a:ext cx="438912" cy="438912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1" name="Image 5" descr="/tmp/claude-0/-home-user-cuentavoz/fdf2c082-f526-5e3d-b5a9-2784467fe58c/scratchpad/pitch/icons/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0725" y="3745017"/>
            <a:ext cx="245791" cy="24579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120640" y="40873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6103620" y="3017520"/>
            <a:ext cx="2651760" cy="502920"/>
          </a:xfrm>
          <a:prstGeom prst="line">
            <a:avLst/>
          </a:prstGeom>
          <a:noFill/>
          <a:ln w="19050">
            <a:solidFill>
              <a:srgbClr val="D8E2EC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26"/>
          <p:cNvSpPr/>
          <p:nvPr/>
        </p:nvSpPr>
        <p:spPr>
          <a:xfrm>
            <a:off x="7772400" y="352044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F5F7FB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Shape 27"/>
          <p:cNvSpPr/>
          <p:nvPr/>
        </p:nvSpPr>
        <p:spPr>
          <a:xfrm>
            <a:off x="8535924" y="3648456"/>
            <a:ext cx="438912" cy="438912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6" name="Image 6" descr="/tmp/claude-0/-home-user-cuentavoz/fdf2c082-f526-5e3d-b5a9-2784467fe58c/scratchpad/pitch/icons/m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2485" y="3745017"/>
            <a:ext cx="245791" cy="245791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772400" y="40873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Intérprete local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2194560" y="45445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catálogo, stock, trazabilidad — 19 tablas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4846320" y="45445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entiende lenguaje natural de bodega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7498080" y="45445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sin internet ni llave de IA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609448" y="52578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0294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Text 33"/>
          <p:cNvSpPr/>
          <p:nvPr/>
        </p:nvSpPr>
        <p:spPr>
          <a:xfrm>
            <a:off x="609448" y="5257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100" dirty="0"/>
          </a:p>
        </p:txBody>
      </p:sp>
      <p:sp>
        <p:nvSpPr>
          <p:cNvPr id="43" name="Shape 34"/>
          <p:cNvSpPr/>
          <p:nvPr/>
        </p:nvSpPr>
        <p:spPr>
          <a:xfrm>
            <a:off x="2465680" y="52578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0294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4" name="Text 35"/>
          <p:cNvSpPr/>
          <p:nvPr/>
        </p:nvSpPr>
        <p:spPr>
          <a:xfrm>
            <a:off x="2465680" y="5257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45" name="Shape 36"/>
          <p:cNvSpPr/>
          <p:nvPr/>
        </p:nvSpPr>
        <p:spPr>
          <a:xfrm>
            <a:off x="4321912" y="52578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0294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6" name="Text 37"/>
          <p:cNvSpPr/>
          <p:nvPr/>
        </p:nvSpPr>
        <p:spPr>
          <a:xfrm>
            <a:off x="4321912" y="5257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47" name="Shape 38"/>
          <p:cNvSpPr/>
          <p:nvPr/>
        </p:nvSpPr>
        <p:spPr>
          <a:xfrm>
            <a:off x="6178144" y="52578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0294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8" name="Text 39"/>
          <p:cNvSpPr/>
          <p:nvPr/>
        </p:nvSpPr>
        <p:spPr>
          <a:xfrm>
            <a:off x="6178144" y="5257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100" dirty="0"/>
          </a:p>
        </p:txBody>
      </p:sp>
      <p:sp>
        <p:nvSpPr>
          <p:cNvPr id="49" name="Shape 40"/>
          <p:cNvSpPr/>
          <p:nvPr/>
        </p:nvSpPr>
        <p:spPr>
          <a:xfrm>
            <a:off x="8034376" y="52578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0294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0" name="Text 41"/>
          <p:cNvSpPr/>
          <p:nvPr/>
        </p:nvSpPr>
        <p:spPr>
          <a:xfrm>
            <a:off x="8034376" y="5257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Cognito</a:t>
            </a:r>
            <a:endParaRPr lang="en-US" sz="1100" dirty="0"/>
          </a:p>
        </p:txBody>
      </p:sp>
      <p:sp>
        <p:nvSpPr>
          <p:cNvPr id="51" name="Shape 42"/>
          <p:cNvSpPr/>
          <p:nvPr/>
        </p:nvSpPr>
        <p:spPr>
          <a:xfrm>
            <a:off x="9890608" y="52578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0294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2" name="Text 43"/>
          <p:cNvSpPr/>
          <p:nvPr/>
        </p:nvSpPr>
        <p:spPr>
          <a:xfrm>
            <a:off x="9890608" y="5257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100" dirty="0"/>
          </a:p>
        </p:txBody>
      </p:sp>
      <p:sp>
        <p:nvSpPr>
          <p:cNvPr id="54" name="Text 44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5" name="Text 45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150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reales, no una demo simulada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extracto real que entregó Colsubsidio — cargado, probado y funcionando hoy</a:t>
            </a:r>
            <a:endParaRPr lang="en-US" sz="14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7452360" y="1920240"/>
          <a:ext cx="3200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 19"/>
          <p:cNvSpPr/>
          <p:nvPr/>
        </p:nvSpPr>
        <p:spPr>
          <a:xfrm>
            <a:off x="7452360" y="311810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88.2%</a:t>
            </a:r>
            <a:endParaRPr lang="en-US" sz="3000" dirty="0"/>
          </a:p>
        </p:txBody>
      </p:sp>
      <p:sp>
        <p:nvSpPr>
          <p:cNvPr id="24" name="Text 20"/>
          <p:cNvSpPr/>
          <p:nvPr/>
        </p:nvSpPr>
        <p:spPr>
          <a:xfrm>
            <a:off x="7452360" y="3657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pasada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7132320" y="52303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real del panel gerencial — calculado en vivo, sin curar.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data/BODEGAS_Y_STOCK.xlsx — verificado corriendo el cargador real contra el archivo que entregó Colsubsidio.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  <p:sp>
        <p:nvSpPr>
          <p:cNvPr id="30" name="Rounded Rectangle 29"/>
          <p:cNvSpPr/>
          <p:nvPr/>
        </p:nvSpPr>
        <p:spPr>
          <a:xfrm>
            <a:off x="640080" y="1920240"/>
            <a:ext cx="2788920" cy="1737360"/>
          </a:xfrm>
          <a:prstGeom prst="roundRect">
            <a:avLst/>
          </a:prstGeom>
          <a:solidFill>
            <a:srgbClr val="103158"/>
          </a:solidFill>
          <a:ln w="10160">
            <a:solidFill>
              <a:srgbClr val="10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22959" y="210312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warehou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2167128"/>
            <a:ext cx="347472" cy="34747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22959" y="2670048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54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314553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C00"/>
                </a:solidFill>
                <a:latin typeface="Aptos"/>
              </a:rPr>
              <a:t>bodegas reales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" y="3419856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CE5F0"/>
                </a:solidFill>
                <a:latin typeface="Aptos"/>
              </a:rPr>
              <a:t>cocinas, almacenes y kioscos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85032" y="1920240"/>
            <a:ext cx="2788920" cy="1737360"/>
          </a:xfrm>
          <a:prstGeom prst="roundRect">
            <a:avLst/>
          </a:prstGeom>
          <a:solidFill>
            <a:srgbClr val="103158"/>
          </a:solidFill>
          <a:ln w="10160">
            <a:solidFill>
              <a:srgbClr val="10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867912" y="210312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catalo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0" y="2167128"/>
            <a:ext cx="347472" cy="34747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867912" y="2670048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1.041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67912" y="314553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C00"/>
                </a:solidFill>
                <a:latin typeface="Aptos"/>
              </a:rPr>
              <a:t>artículos del catálogo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67912" y="3419856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CE5F0"/>
                </a:solidFill>
                <a:latin typeface="Aptos"/>
              </a:rPr>
              <a:t>extracto oficial de My Inventory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3913632"/>
            <a:ext cx="2788920" cy="1737360"/>
          </a:xfrm>
          <a:prstGeom prst="roundRect">
            <a:avLst/>
          </a:prstGeom>
          <a:solidFill>
            <a:srgbClr val="103158"/>
          </a:solidFill>
          <a:ln w="10160">
            <a:solidFill>
              <a:srgbClr val="10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22959" y="4096512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st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4160520"/>
            <a:ext cx="347472" cy="34747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22959" y="4663440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1.418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59" y="513892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C00"/>
                </a:solidFill>
                <a:latin typeface="Aptos"/>
              </a:rPr>
              <a:t>registros de stock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59" y="5413248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CE5F0"/>
                </a:solidFill>
                <a:latin typeface="Aptos"/>
              </a:rPr>
              <a:t>cargados y consultables en vivo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85032" y="3913632"/>
            <a:ext cx="2788920" cy="1737360"/>
          </a:xfrm>
          <a:prstGeom prst="roundRect">
            <a:avLst/>
          </a:prstGeom>
          <a:solidFill>
            <a:srgbClr val="FFCC00"/>
          </a:solidFill>
          <a:ln w="1016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3867912" y="4096512"/>
            <a:ext cx="475488" cy="475488"/>
          </a:xfrm>
          <a:prstGeom prst="ellipse">
            <a:avLst/>
          </a:prstGeom>
          <a:solidFill>
            <a:srgbClr val="103158"/>
          </a:solidFill>
          <a:ln w="12700">
            <a:solidFill>
              <a:srgbClr val="10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867912" y="4663440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03158"/>
                </a:solidFill>
                <a:latin typeface="Aptos Display"/>
              </a:rPr>
              <a:t>79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67912" y="513892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3158"/>
                </a:solidFill>
                <a:latin typeface="Aptos"/>
              </a:rPr>
              <a:t>saldos negativos detectados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67912" y="5413248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34E5A"/>
                </a:solidFill>
                <a:latin typeface="Aptos"/>
              </a:rPr>
              <a:t>encontrados automáticamente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2360" y="1600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B4F8A"/>
                </a:solidFill>
                <a:latin typeface="Aptos"/>
              </a:rPr>
              <a:t>INDICADOR EJECUTIVO</a:t>
            </a:r>
          </a:p>
        </p:txBody>
      </p:sp>
      <p:sp>
        <p:nvSpPr>
          <p:cNvPr id="55" name="Oval 54"/>
          <p:cNvSpPr/>
          <p:nvPr/>
        </p:nvSpPr>
        <p:spPr>
          <a:xfrm>
            <a:off x="3867912" y="4096512"/>
            <a:ext cx="475488" cy="475488"/>
          </a:xfrm>
          <a:prstGeom prst="ellipse">
            <a:avLst/>
          </a:prstGeom>
          <a:solidFill>
            <a:srgbClr val="D6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!</a:t>
            </a:r>
          </a:p>
        </p:txBody>
      </p:sp>
    </p:spTree>
  </p:cSld>
  <p:clrMapOvr>
    <a:masterClrMapping/>
  </p:clrMapOvr>
  <p:transition spd="med" advTm="250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pensada desde el primer día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custodia el inventario de Colsubsidio — se blinda con la misma seriedad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868680" y="2057400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1" descr="/tmp/claude-0/-home-user-cuentavoz/fdf2c082-f526-5e3d-b5a9-2784467fe58c/scratchpad/pitch/icons/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287" y="2162007"/>
            <a:ext cx="266273" cy="2662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029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en AWS Cognito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68680" y="261518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Cognito emite y verifica los tokens: la clave nunca pasa por nuestro servidor.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89120" y="18288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8"/>
          <p:cNvSpPr/>
          <p:nvPr/>
        </p:nvSpPr>
        <p:spPr>
          <a:xfrm>
            <a:off x="4617720" y="2057400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2" descr="/tmp/claude-0/-home-user-cuentavoz/fdf2c082-f526-5e3d-b5a9-2784467fe58c/scratchpad/pitch/icons/fingerpr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327" y="2162007"/>
            <a:ext cx="266273" cy="2662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57800" y="2029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en dos pasos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617720" y="261518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factor opcional con app autenticadora, y recuperación de clave por correo.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138160" y="18288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2"/>
          <p:cNvSpPr/>
          <p:nvPr/>
        </p:nvSpPr>
        <p:spPr>
          <a:xfrm>
            <a:off x="8366760" y="2057400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3" descr="/tmp/claude-0/-home-user-cuentavoz/fdf2c082-f526-5e3d-b5a9-2784467fe58c/scratchpad/pitch/icons/accessib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1367" y="2162007"/>
            <a:ext cx="266273" cy="26627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06840" y="2029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 WCAG AA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366760" y="261518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 con axe-core: cero incumplimientos WCAG A/AA en las 17 pantallas.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40080" y="379476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16"/>
          <p:cNvSpPr/>
          <p:nvPr/>
        </p:nvSpPr>
        <p:spPr>
          <a:xfrm>
            <a:off x="868680" y="4023360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4" descr="/tmp/claude-0/-home-user-cuentavoz/fdf2c082-f526-5e3d-b5a9-2784467fe58c/scratchpad/pitch/icons/wifi_o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287" y="4127967"/>
            <a:ext cx="266273" cy="26627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08760" y="3995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sin conexión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868680" y="458114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real: lo contado sin señal se sincroniza solo al volver — el conteo no se detiene.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389120" y="379476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0"/>
          <p:cNvSpPr/>
          <p:nvPr/>
        </p:nvSpPr>
        <p:spPr>
          <a:xfrm>
            <a:off x="4617720" y="4023360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8" name="Image 5" descr="/tmp/claude-0/-home-user-cuentavoz/fdf2c082-f526-5e3d-b5a9-2784467fe58c/scratchpad/pitch/icons/clou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2327" y="4127967"/>
            <a:ext cx="266273" cy="26627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57800" y="3995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producción, no en un laptop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4617720" y="458114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 HTTPS por CloudFront. Cada cambio pasa por 149 pruebas automáticas antes de desplegarse.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8138160" y="379476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2" name="Shape 24"/>
          <p:cNvSpPr/>
          <p:nvPr/>
        </p:nvSpPr>
        <p:spPr>
          <a:xfrm>
            <a:off x="8366760" y="4023360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3" name="Image 6" descr="/tmp/claude-0/-home-user-cuentavoz/fdf2c082-f526-5e3d-b5a9-2784467fe58c/scratchpad/pitch/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1367" y="4127967"/>
            <a:ext cx="266273" cy="266273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006840" y="3995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inmutable</a:t>
            </a:r>
            <a:endParaRPr lang="en-US" sz="1500" dirty="0"/>
          </a:p>
        </p:txBody>
      </p:sp>
      <p:sp>
        <p:nvSpPr>
          <p:cNvPr id="35" name="Text 26"/>
          <p:cNvSpPr/>
          <p:nvPr/>
        </p:nvSpPr>
        <p:spPr>
          <a:xfrm>
            <a:off x="8366760" y="458114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se borra: una corrección crea un registro nuevo que apunta al original.</a:t>
            </a:r>
            <a:endParaRPr lang="en-US" sz="1150" dirty="0"/>
          </a:p>
        </p:txBody>
      </p:sp>
      <p:sp>
        <p:nvSpPr>
          <p:cNvPr id="37" name="Text 27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8" name="Text 28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100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743200"/>
            <a:ext cx="6400800" cy="6400800"/>
          </a:xfrm>
          <a:prstGeom prst="ellipse">
            <a:avLst/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8A6D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/tmp/claude-0/-home-user-cuentavoz/fdf2c082-f526-5e3d-b5a9-2784467fe58c/scratchpad/pitch/icons/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esto significa para Colsubsidio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22960" y="228600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1097280" y="2711196"/>
            <a:ext cx="566928" cy="56692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1" descr="/tmp/claude-0/-home-user-cuentavoz/fdf2c082-f526-5e3d-b5a9-2784467fe58c/scratchpad/pitch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004" y="2835920"/>
            <a:ext cx="317480" cy="317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245059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con datos reales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828800" y="286207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 memoria ni con planillas sueltas por bodega.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0" y="228600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8"/>
          <p:cNvSpPr/>
          <p:nvPr/>
        </p:nvSpPr>
        <p:spPr>
          <a:xfrm>
            <a:off x="6675120" y="2711196"/>
            <a:ext cx="566928" cy="56692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2" descr="/tmp/claude-0/-home-user-cuentavoz/fdf2c082-f526-5e3d-b5a9-2784467fe58c/scratchpad/pitch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9844" y="2835920"/>
            <a:ext cx="317480" cy="317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06640" y="245059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total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406640" y="286207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conteo, cada corrección y cada firma quedan registrados, con quién y cuándo.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22960" y="438912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2"/>
          <p:cNvSpPr/>
          <p:nvPr/>
        </p:nvSpPr>
        <p:spPr>
          <a:xfrm>
            <a:off x="1097280" y="4814316"/>
            <a:ext cx="566928" cy="56692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3" descr="/tmp/claude-0/-home-user-cuentavoz/fdf2c082-f526-5e3d-b5a9-2784467fe58c/scratchpad/pitch/icons/buil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2004" y="4939040"/>
            <a:ext cx="317480" cy="317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28800" y="455371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 a toda la operación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828800" y="496519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plataforma sirve para una bodega o para las 54 — y para las que vengan.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0" y="438912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16"/>
          <p:cNvSpPr/>
          <p:nvPr/>
        </p:nvSpPr>
        <p:spPr>
          <a:xfrm>
            <a:off x="6675120" y="4814316"/>
            <a:ext cx="566928" cy="56692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4" descr="/tmp/claude-0/-home-user-cuentavoz/fdf2c082-f526-5e3d-b5a9-2784467fe58c/scratchpad/pitch/icons/utensil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9844" y="4939040"/>
            <a:ext cx="317480" cy="317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06640" y="455371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digitando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406640" y="496519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tiempo en la cocina: la voz es más rápida que el teclado, y el teclado sigue como respaldo.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200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8A6D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co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Sostenible por diseño: bajo costo, valor real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licencias por usuario ni costos ocultos — el valor está en el tiempo y la exactitud que gana Colsubsidio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5257800" cy="4160520"/>
          </a:xfrm>
          <a:prstGeom prst="roundRect">
            <a:avLst>
              <a:gd name="adj" fmla="val 3077"/>
            </a:avLst>
          </a:prstGeom>
          <a:solidFill>
            <a:srgbClr val="10294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1005840" y="216712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FD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CUESTA OPERARLO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005840" y="2651760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9" name="Image 1" descr="/tmp/claude-0/-home-user-cuentavoz/fdf2c082-f526-5e3d-b5a9-2784467fe58c/scratchpad/pitch/icons/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447" y="2756367"/>
            <a:ext cx="266273" cy="2662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26334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en la nube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645920" y="292608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gestionada en AWS: S3, CloudFront, EC2 y RDS. La misma nube que ya usa Colsubsidio.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005840" y="3767328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2" descr="/tmp/claude-0/-home-user-cuentavoz/fdf2c082-f526-5e3d-b5a9-2784467fe58c/scratchpad/pitch/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447" y="3871935"/>
            <a:ext cx="266273" cy="2662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37490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 IA por uso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645920" y="404164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paga por lo que se usa en la API de Gemini, no una licencia fija por persona.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1005840" y="4882896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7" name="Image 3" descr="/tmp/claude-0/-home-user-cuentavoz/fdf2c082-f526-5e3d-b5a9-2784467fe58c/scratchpad/pitch/icons/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447" y="4987503"/>
            <a:ext cx="266273" cy="26627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45920" y="486460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licencias por usuario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645920" y="5157216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propio del equipo StockXperts: sumar una bodega o un usuario más no cuesta más.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6309360" y="187452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QUE GENERA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263640" y="2331720"/>
            <a:ext cx="52578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16"/>
          <p:cNvSpPr/>
          <p:nvPr/>
        </p:nvSpPr>
        <p:spPr>
          <a:xfrm>
            <a:off x="6464808" y="2660904"/>
            <a:ext cx="512064" cy="512064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4" descr="/tmp/claude-0/-home-user-cuentavoz/fdf2c082-f526-5e3d-b5a9-2784467fe58c/scratchpad/pitch/icons/bo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7462" y="2773558"/>
            <a:ext cx="286756" cy="2867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32320" y="2478024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re-digitando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7132320" y="2788920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voz reemplaza la doble digitación en papel y Excel: el tiempo vuelve a la cocina.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6263640" y="3630168"/>
            <a:ext cx="52578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0"/>
          <p:cNvSpPr/>
          <p:nvPr/>
        </p:nvSpPr>
        <p:spPr>
          <a:xfrm>
            <a:off x="6464808" y="3959352"/>
            <a:ext cx="512064" cy="512064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8" name="Image 5" descr="/tmp/claude-0/-home-user-cuentavoz/fdf2c082-f526-5e3d-b5a9-2784467fe58c/scratchpad/pitch/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7462" y="4072006"/>
            <a:ext cx="286756" cy="2867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132320" y="377647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error humano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7132320" y="4087368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valida en el momento del conteo, no semanas después revisando planillas.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6263640" y="4928616"/>
            <a:ext cx="52578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2" name="Shape 24"/>
          <p:cNvSpPr/>
          <p:nvPr/>
        </p:nvSpPr>
        <p:spPr>
          <a:xfrm>
            <a:off x="6464808" y="5257800"/>
            <a:ext cx="512064" cy="512064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3" name="Image 6" descr="/tmp/claude-0/-home-user-cuentavoz/fdf2c082-f526-5e3d-b5a9-2784467fe58c/scratchpad/pitch/icons/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7462" y="5370454"/>
            <a:ext cx="286756" cy="28675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132320" y="507492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más rápidas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7132320" y="5385816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gerencial muestra exactitud y alertas en vivo, sin esperar consolidados.</a:t>
            </a:r>
            <a:endParaRPr lang="en-US" sz="1050" dirty="0"/>
          </a:p>
        </p:txBody>
      </p:sp>
      <p:sp>
        <p:nvSpPr>
          <p:cNvPr id="37" name="Text 27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8" name="Text 28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150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 de adopción dentro de Colsubsidio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se apoya sobre la anterior — ya construida, probada y funcionando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354580" y="2203704"/>
            <a:ext cx="3749040" cy="0"/>
          </a:xfrm>
          <a:prstGeom prst="line">
            <a:avLst/>
          </a:prstGeom>
          <a:noFill/>
          <a:ln w="38100">
            <a:solidFill>
              <a:srgbClr val="1E7A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6103620" y="2203704"/>
            <a:ext cx="3749040" cy="0"/>
          </a:xfrm>
          <a:prstGeom prst="line">
            <a:avLst/>
          </a:prstGeom>
          <a:noFill/>
          <a:ln w="38100">
            <a:solidFill>
              <a:srgbClr val="D8E2EC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2025396" y="1874520"/>
            <a:ext cx="658368" cy="658368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9" name="Image 1" descr="/tmp/claude-0/-home-user-cuentavoz/fdf2c082-f526-5e3d-b5a9-2784467fe58c/scratchpad/pitch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9988" y="2039112"/>
            <a:ext cx="329184" cy="3291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" y="2734056"/>
            <a:ext cx="3429000" cy="2935224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7"/>
          <p:cNvSpPr/>
          <p:nvPr/>
        </p:nvSpPr>
        <p:spPr>
          <a:xfrm>
            <a:off x="914400" y="295351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8"/>
          <p:cNvSpPr/>
          <p:nvPr/>
        </p:nvSpPr>
        <p:spPr>
          <a:xfrm>
            <a:off x="914400" y="29535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914400" y="339242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real, en producción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914400" y="3995928"/>
            <a:ext cx="28803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Desplegado en AWS con despliegue automático desde GitHub</a:t>
            </a:r>
            <a:endParaRPr lang="en-US" sz="1100" dirty="0"/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bodegas y 1.041 artículos reales cargados</a:t>
            </a:r>
            <a:endParaRPr lang="en-US" sz="1100" dirty="0"/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Conteo, pedidos y legalización de punta a punta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774436" y="1874520"/>
            <a:ext cx="658368" cy="65836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2" descr="/tmp/claude-0/-home-user-cuentavoz/fdf2c082-f526-5e3d-b5a9-2784467fe58c/scratchpad/pitch/icons/clip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028" y="2039112"/>
            <a:ext cx="329184" cy="32918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389120" y="2734056"/>
            <a:ext cx="3429000" cy="2935224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3"/>
          <p:cNvSpPr/>
          <p:nvPr/>
        </p:nvSpPr>
        <p:spPr>
          <a:xfrm>
            <a:off x="4663440" y="295351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4F0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4"/>
          <p:cNvSpPr/>
          <p:nvPr/>
        </p:nvSpPr>
        <p:spPr>
          <a:xfrm>
            <a:off x="4663440" y="29535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663440" y="339242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el ciclo con Colsubsidio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4663440" y="3995928"/>
            <a:ext cx="28803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el archivo oficial de recetas</a:t>
            </a:r>
            <a:endParaRPr lang="en-US" sz="1100" dirty="0"/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guiado en un grupo de bodegas reales</a:t>
            </a:r>
            <a:endParaRPr lang="en-US" sz="1100" dirty="0"/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el modelo de voz al vocabulario del equipo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523476" y="1874520"/>
            <a:ext cx="658368" cy="658368"/>
          </a:xfrm>
          <a:prstGeom prst="ellipse">
            <a:avLst/>
          </a:prstGeom>
          <a:solidFill>
            <a:srgbClr val="57575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3" descr="/tmp/claude-0/-home-user-cuentavoz/fdf2c082-f526-5e3d-b5a9-2784467fe58c/scratchpad/pitch/icons/buil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8068" y="2039112"/>
            <a:ext cx="329184" cy="329184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8138160" y="2734056"/>
            <a:ext cx="3429000" cy="2935224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19"/>
          <p:cNvSpPr/>
          <p:nvPr/>
        </p:nvSpPr>
        <p:spPr>
          <a:xfrm>
            <a:off x="8412480" y="295351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0"/>
          <p:cNvSpPr/>
          <p:nvPr/>
        </p:nvSpPr>
        <p:spPr>
          <a:xfrm>
            <a:off x="8412480" y="29535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8412480" y="339242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operación de hotelería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8412480" y="3995928"/>
            <a:ext cx="28803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Extender a la operación completa de Colsubsidio</a:t>
            </a:r>
            <a:endParaRPr lang="en-US" sz="1100" dirty="0"/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gerencial como estándar de reporte</a:t>
            </a:r>
            <a:endParaRPr lang="en-US" sz="1100" dirty="0"/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directa con My Inventory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150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743200"/>
            <a:ext cx="6400800" cy="6400800"/>
          </a:xfrm>
          <a:prstGeom prst="ellipse">
            <a:avLst/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8A6D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/tmp/claude-0/-home-user-cuentavoz/fdf2c082-f526-5e3d-b5a9-2784467fe58c/scratchpad/pitch/icons/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necesitamos de Colsubsidio hoy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compromisos concretos para pasar del prototipo al piloto real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2318004"/>
            <a:ext cx="621792" cy="621792"/>
          </a:xfrm>
          <a:prstGeom prst="ellipse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1" descr="/tmp/claude-0/-home-user-cuentavoz/fdf2c082-f526-5e3d-b5a9-2784467fe58c/scratchpad/pitch/icons/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473452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21945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sponsor dentro de Operaciones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691640" y="25877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Alguien del equipo de bodegas o compras que apruebe y acompañe el piloto.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22960" y="3177540"/>
            <a:ext cx="10607040" cy="0"/>
          </a:xfrm>
          <a:prstGeom prst="line">
            <a:avLst/>
          </a:prstGeom>
          <a:noFill/>
          <a:ln w="9525">
            <a:solidFill>
              <a:srgbClr val="2B4C7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8"/>
          <p:cNvSpPr/>
          <p:nvPr/>
        </p:nvSpPr>
        <p:spPr>
          <a:xfrm>
            <a:off x="822960" y="3415284"/>
            <a:ext cx="621792" cy="621792"/>
          </a:xfrm>
          <a:prstGeom prst="ellipse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2" descr="/tmp/claude-0/-home-user-cuentavoz/fdf2c082-f526-5e3d-b5a9-2784467fe58c/scratchpad/pitch/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357073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32918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al archivo oficial de recetas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691640" y="36850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cerrar el ciclo de pedidos automáticos que ya está construido.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22960" y="4274820"/>
            <a:ext cx="10607040" cy="0"/>
          </a:xfrm>
          <a:prstGeom prst="line">
            <a:avLst/>
          </a:prstGeom>
          <a:noFill/>
          <a:ln w="9525">
            <a:solidFill>
              <a:srgbClr val="2B4C7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2"/>
          <p:cNvSpPr/>
          <p:nvPr/>
        </p:nvSpPr>
        <p:spPr>
          <a:xfrm>
            <a:off x="822960" y="4512564"/>
            <a:ext cx="621792" cy="621792"/>
          </a:xfrm>
          <a:prstGeom prst="ellipse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3" descr="/tmp/claude-0/-home-user-cuentavoz/fdf2c082-f526-5e3d-b5a9-2784467fe58c/scratchpad/pitch/icons/buil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4668012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43891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grupo real de bodegas para el piloto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691640" y="478231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 6 semanas guiadas en cocinas o almacenes reales, con StockXperts presente.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822960" y="5372100"/>
            <a:ext cx="10607040" cy="0"/>
          </a:xfrm>
          <a:prstGeom prst="line">
            <a:avLst/>
          </a:prstGeom>
          <a:noFill/>
          <a:ln w="9525">
            <a:solidFill>
              <a:srgbClr val="2B4C7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16"/>
          <p:cNvSpPr/>
          <p:nvPr/>
        </p:nvSpPr>
        <p:spPr>
          <a:xfrm>
            <a:off x="822960" y="5609844"/>
            <a:ext cx="621792" cy="621792"/>
          </a:xfrm>
          <a:prstGeom prst="ellipse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4" descr="/tmp/claude-0/-home-user-cuentavoz/fdf2c082-f526-5e3d-b5a9-2784467fe58c/scratchpad/pitch/icons/calend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" y="5765292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91640" y="54864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minutos cada dos semanas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1691640" y="587959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revisión corta con la gerencia para ajustar el rumbo con datos reales del piloto.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250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 StockXperts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personas detrás de CuentaVoz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  <p:sp>
        <p:nvSpPr>
          <p:cNvPr id="30" name="Rectangle 29"/>
          <p:cNvSpPr/>
          <p:nvPr/>
        </p:nvSpPr>
        <p:spPr>
          <a:xfrm>
            <a:off x="1353312" y="1389888"/>
            <a:ext cx="914400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40080" y="1874519"/>
            <a:ext cx="260604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1874519"/>
            <a:ext cx="2569464" cy="54864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Lu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1" y="2212848"/>
            <a:ext cx="1554480" cy="15544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22959" y="3904487"/>
            <a:ext cx="2240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3158"/>
                </a:solidFill>
                <a:latin typeface="Aptos Display"/>
              </a:rPr>
              <a:t>Luis Guillermo Nieto Patiño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59" y="4663440"/>
            <a:ext cx="2240280" cy="566928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CDD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2688" y="4736592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0B4F8A"/>
                </a:solidFill>
                <a:latin typeface="Aptos"/>
              </a:rPr>
              <a:t>Diseño funcional y experiencia de usuario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02152" y="1874519"/>
            <a:ext cx="260604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520440" y="1874519"/>
            <a:ext cx="2569464" cy="54864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85032" y="3904487"/>
            <a:ext cx="2240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3158"/>
                </a:solidFill>
                <a:latin typeface="Aptos Display"/>
              </a:rPr>
              <a:t>Luz Stephanie Puentes Morantes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85032" y="4663440"/>
            <a:ext cx="2240280" cy="566928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CDD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794760" y="4736592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0B4F8A"/>
                </a:solidFill>
                <a:latin typeface="Aptos"/>
              </a:rPr>
              <a:t>Validación funcional y apoyo al desarrollo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64224" y="1874519"/>
            <a:ext cx="260604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382512" y="1874519"/>
            <a:ext cx="2569464" cy="54864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Valent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576" y="2212848"/>
            <a:ext cx="1554480" cy="155448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547104" y="3904487"/>
            <a:ext cx="2240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3158"/>
                </a:solidFill>
                <a:latin typeface="Aptos Display"/>
              </a:rPr>
              <a:t>Valentina Burbano Salazar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47104" y="4663440"/>
            <a:ext cx="2240280" cy="566928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CDD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56832" y="4736592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0B4F8A"/>
                </a:solidFill>
                <a:latin typeface="Aptos"/>
              </a:rPr>
              <a:t>Desarrollo Full Stack, arquitectura e integración de IA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26296" y="1874519"/>
            <a:ext cx="260604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244584" y="1874519"/>
            <a:ext cx="2569464" cy="54864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409176" y="3904487"/>
            <a:ext cx="2240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3158"/>
                </a:solidFill>
                <a:latin typeface="Aptos Display"/>
              </a:rPr>
              <a:t>Diana Carolina Argüello Casallas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409176" y="4663440"/>
            <a:ext cx="2240280" cy="566928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CDD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518904" y="4736592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0B4F8A"/>
                </a:solidFill>
                <a:latin typeface="Aptos"/>
              </a:rPr>
              <a:t>Análisis de requerimientos y documentación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57607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573"/>
                </a:solidFill>
                <a:latin typeface="Aptos"/>
              </a:rPr>
              <a:t>Equipo multidisciplinario · producto, tecnología, datos y validación funcional</a:t>
            </a:r>
          </a:p>
        </p:txBody>
      </p:sp>
      <p:pic>
        <p:nvPicPr>
          <p:cNvPr id="56" name="Picture 55" descr="Luz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2504" y="2212848"/>
            <a:ext cx="1554480" cy="1554480"/>
          </a:xfrm>
          <a:prstGeom prst="rect">
            <a:avLst/>
          </a:prstGeom>
        </p:spPr>
      </p:pic>
      <p:pic>
        <p:nvPicPr>
          <p:cNvPr id="57" name="Picture 56" descr="diana_circular_cl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6648" y="2212848"/>
            <a:ext cx="1554480" cy="1554480"/>
          </a:xfrm>
          <a:prstGeom prst="rect">
            <a:avLst/>
          </a:prstGeom>
        </p:spPr>
      </p:pic>
    </p:spTree>
  </p:cSld>
  <p:clrMapOvr>
    <a:masterClrMapping/>
  </p:clrMapOvr>
  <p:transition spd="med" advTm="100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41248" y="21488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D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Quedamos atentos a sus preguntas y a dar el siguiente paso juntos.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41248" y="2880360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7" name="Image 0" descr="/tmp/claude-0/-home-user-cuentavoz/fdf2c082-f526-5e3d-b5a9-2784467fe58c/scratchpad/pitch/icons/whats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18" y="29832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1328" y="28620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Escríbanos por WhatsApp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481328" y="30998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313 389 8638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41248" y="3502152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/tmp/claude-0/-home-user-cuentavoz/fdf2c082-f526-5e3d-b5a9-2784467fe58c/scratchpad/pitch/icons/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118" y="3605022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81328" y="34838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481328" y="3721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d13g9u0pgpag0b.cloudfront.net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41248" y="4123944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5" name="Image 2" descr="/tmp/claude-0/-home-user-cuentavoz/fdf2c082-f526-5e3d-b5a9-2784467fe58c/scratchpad/pitch/icons/vide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118" y="4226814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81328" y="41056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 presentación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481328" y="43434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youtube.com/watch?v=4tSRTV5POd4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841248" y="4745736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9" name="Image 3" descr="/tmp/claude-0/-home-user-cuentavoz/fdf2c082-f526-5e3d-b5a9-2784467fe58c/scratchpad/pitch/icons/githu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118" y="4848606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81328" y="47274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y documentación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1481328" y="49651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github.com/lnieto044/cuentavoz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841248" y="5440680"/>
            <a:ext cx="4754880" cy="0"/>
          </a:xfrm>
          <a:prstGeom prst="line">
            <a:avLst/>
          </a:prstGeom>
          <a:noFill/>
          <a:ln w="12700">
            <a:solidFill>
              <a:srgbClr val="2B4C7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17"/>
          <p:cNvSpPr/>
          <p:nvPr/>
        </p:nvSpPr>
        <p:spPr>
          <a:xfrm>
            <a:off x="841248" y="5577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de prueba: luis / diana  ·  Clave: StockXperts1</a:t>
            </a:r>
            <a:endParaRPr lang="en-US" sz="1100" dirty="0"/>
          </a:p>
        </p:txBody>
      </p:sp>
      <p:pic>
        <p:nvPicPr>
          <p:cNvPr id="24" name="Image 4" descr="/home/user/cuentavoz/frontend/public/colsubsidio-blanc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0" y="5806440"/>
            <a:ext cx="2011680" cy="3840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41248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StockXperts · Hackathon Colsubsidio × 30X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9482328" y="1207008"/>
            <a:ext cx="2066544" cy="2304288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7" name="Image 5" descr="/tmp/claude-0/-home-user-cuentavoz/fdf2c082-f526-5e3d-b5a9-2784467fe58c/scratchpad/pitch/icons/qr_dem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6920" y="1371600"/>
            <a:ext cx="1737360" cy="17373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482328" y="3163824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y pruébelo</a:t>
            </a:r>
            <a:endParaRPr lang="en-US" sz="1050" dirty="0"/>
          </a:p>
        </p:txBody>
      </p:sp>
    </p:spTree>
  </p:cSld>
  <p:clrMapOvr>
    <a:masterClrMapping/>
  </p:clrMapOvr>
  <p:transition spd="med" advTm="10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2242</Words>
  <Application>Microsoft Office PowerPoint</Application>
  <PresentationFormat>Panorámica</PresentationFormat>
  <Paragraphs>289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Usuario</cp:lastModifiedBy>
  <cp:revision>3</cp:revision>
  <dcterms:created xsi:type="dcterms:W3CDTF">2026-08-17T22:17:40Z</dcterms:created>
  <dcterms:modified xsi:type="dcterms:W3CDTF">2026-08-18T01:22:14Z</dcterms:modified>
</cp:coreProperties>
</file>