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111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Exactitud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67B1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33CE-4EB2-A983-F178C86749AD}"/>
              </c:ext>
            </c:extLst>
          </c:dPt>
          <c:dPt>
            <c:idx val="1"/>
            <c:bubble3D val="0"/>
            <c:spPr>
              <a:solidFill>
                <a:srgbClr val="E4F0F9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33CE-4EB2-A983-F178C86749AD}"/>
              </c:ext>
            </c:extLst>
          </c:dPt>
          <c:cat>
            <c:strRef>
              <c:f>Sheet1!$A$2:$A$3</c:f>
              <c:strCache>
                <c:ptCount val="2"/>
                <c:pt idx="0">
                  <c:v>Exactitud primera pasada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88.2</c:v>
                </c:pt>
                <c:pt idx="1">
                  <c:v>11.8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CE-4EB2-A983-F178C86749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570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PITCH DE 5:00–5:30 · 0:00–0:05 (5s) — Preséntense en una frase: 'Somos StockXperts, esto es CuentaVoz.' No se detengan aquí, es solo la entrada.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0:05–0:30 (25s) — HOOK + PROBLEMA. Mencionen 1-2 ejemplos rápido (el 9 registrado como 90, o la unidad confundida) — no lean las 4 tarjetas completas. NUNCA SE SALTA.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0:30–0:50 (20s) — QUÉ CONSTRUIMOS. 'Construimos CuentaVoz: usted habla, la IA entiende, el sistema valida y registra solo — sin papel, sin doble digitación.' NUNCA SE SALTA.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0:50–1:10 (20s) — Si van cortos de tiempo, SE PUEDE SALTAR: solo digan una frase de transición ('el agente propone, el backend decide') y sigan.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1:10–1:25 (15s) — Mencionen rápido que cubre pedido, conteo y legalización — no se detengan en cada tarjeta. SE PUEDE SALTAR si van cortos.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1:25–2:25 (60s) — DEMO EN VIVO, la parte más importante. Aquí PAUSEN las diapositivas: saquen la tablet y hagan un conteo de verdad hablándole al agente; si el público tiene celular a mano, que abran cuentavoz.onrender.com y sigan en vivo (usuario luis/diana, PIN StockXperts). Esta slide con las capturas queda de RESPALDO si falla el wifi de la sede — no lean las descripciones, salten directo a la app real. NUNCA SE SALTA.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2:25–2:45 (20s) — Un solo ejemplo fuerte: 'noventa cazuelas' dispara '¿confirma 90?'. No lean las 4 tarjetas. SE PUEDE ABREVIAR a una frase si la demo en vivo se alargó.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2:45–3:00 (15s) — TECH STACK en una frase: React, FastAPI, PostgreSQL, Gemini, todo en producción en Render. No se detengan en el diagrama completo.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3:00–3:25 (25s) — Estos números importan: 54 bodegas, 1.040 artículos, 88.2% de exactitud — con el archivo real que entregó Colsubsidio, no una demo inventada. NUNCA SE SALTA.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3:25–3:35 (10s) — Una frase: 'Ya tiene cifrado, huella digital, funciona sin internet.' SE PUEDE SALTAR COMPLETA si van cortos de tiempo.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3:35–3:55 (20s) — Menos error, más trazabilidad, escala a las 54 bodegas.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3:55–4:10 (15s) — 'No hay licencias por usuario, se paga por uso de IA — bajo costo, alto impacto.' SE PUEDE SALTAR si van cortos.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4:10–4:25 (15s) — 'Ya está en producción. El siguiente paso es un piloto real con ustedes.'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4:25–4:50 (25s) — EL ASK. NUNCA SE SALTA — esto es lo que se llevan los gerentes: un sponsor, el archivo de recetas, un grupo de bodegas para el piloto, 30 min cada 2 semanas.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4:50–5:00 (10s) — Nombres rápido, una frase de rol cada uno.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5:00–5:10 (10s) — 'Muchas gracias por su tiempo. Quedamos atentos a sus preguntas — pueden escanear el código QR para explorar la demo ustedes mismos, y escribirnos directamente por WhatsApp al 313 389 8638.' Cierren con energía. NUNCA SE SALTA.
RESUMEN DE TIEMPOS (total ~5:10, deja margen a 5:30): slides 2,3,6,9,14,16 nunca se saltan (son el hook, la solución, la demo, los datos reales, el ask y el cierre). Si van cortos, salten o abrevien 4, 5, 7, 10 y 12 en ese orden de prioridad.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029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9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20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8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9.png"/><Relationship Id="rId4" Type="http://schemas.openxmlformats.org/officeDocument/2006/relationships/image" Target="../media/image27.png"/><Relationship Id="rId9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png"/><Relationship Id="rId5" Type="http://schemas.openxmlformats.org/officeDocument/2006/relationships/image" Target="../media/image29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9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286000"/>
            <a:ext cx="6400800" cy="6400800"/>
          </a:xfrm>
          <a:prstGeom prst="ellipse">
            <a:avLst/>
          </a:prstGeom>
          <a:solidFill>
            <a:srgbClr val="1634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868680" y="1417320"/>
            <a:ext cx="1051560" cy="1051560"/>
          </a:xfrm>
          <a:prstGeom prst="roundRect">
            <a:avLst>
              <a:gd name="adj" fmla="val 19130"/>
            </a:avLst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5" name="Image 0" descr="/tmp/claude-0/-home-user-cuentavoz/fdf2c082-f526-5e3d-b5a9-2784467fe58c/scratchpad/pitch/icons/m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" y="1682496"/>
            <a:ext cx="530352" cy="5303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060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CuentaVoz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41248" y="34564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D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«Tu voz cuenta»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41248" y="39502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conversacional por voz para la captura de inventarios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41248" y="4617720"/>
            <a:ext cx="4206240" cy="0"/>
          </a:xfrm>
          <a:prstGeom prst="line">
            <a:avLst/>
          </a:prstGeom>
          <a:noFill/>
          <a:ln w="12700">
            <a:solidFill>
              <a:srgbClr val="2B4C7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841248" y="4800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de Hotelería  ·  Hackathon Colsubsidio × 30X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41248" y="5166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StockXperts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41248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final · Sede principal Colsubsidio · 31 de agosto de 2026</a:t>
            </a:r>
            <a:endParaRPr lang="en-US" sz="1150" dirty="0"/>
          </a:p>
        </p:txBody>
      </p:sp>
      <p:pic>
        <p:nvPicPr>
          <p:cNvPr id="13" name="Image 1" descr="/home/user/cuentavoz/frontend/public/colsubsidio-blan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0" y="6172200"/>
            <a:ext cx="1828800" cy="3474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 advTm="5000">
        <p15:prstTrans prst="curtains"/>
      </p:transition>
    </mc:Choice>
    <mc:Fallback xmlns="">
      <p:transition spd="slow" advTm="5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12064" cy="512064"/>
          </a:xfrm>
          <a:prstGeom prst="ellipse">
            <a:avLst/>
          </a:prstGeom>
          <a:solidFill>
            <a:srgbClr val="8A6D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" name="Image 0" descr="/tmp/claude-0/-home-user-cuentavoz/fdf2c082-f526-5e3d-b5a9-2784467fe58c/scratchpad/pitch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34" y="588142"/>
            <a:ext cx="286756" cy="2867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57200"/>
            <a:ext cx="101983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conteo manual cuesta caro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53312" y="969264"/>
            <a:ext cx="101983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Hoy, buena parte del inventario en cocinas y bodegas pasa por un proceso 100% manual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645920"/>
            <a:ext cx="2331720" cy="1051560"/>
          </a:xfrm>
          <a:prstGeom prst="roundRect">
            <a:avLst>
              <a:gd name="adj" fmla="val 8696"/>
            </a:avLst>
          </a:prstGeom>
          <a:solidFill>
            <a:srgbClr val="F5F7FB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1577340" y="1783080"/>
            <a:ext cx="457200" cy="457200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8" name="Image 1" descr="/tmp/claude-0/-home-user-cuentavoz/fdf2c082-f526-5e3d-b5a9-2784467fe58c/scratchpad/pitch/icons/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0210" y="1885950"/>
            <a:ext cx="251460" cy="251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23042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2971800" y="1645920"/>
            <a:ext cx="320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3291840" y="1645920"/>
            <a:ext cx="2331720" cy="1051560"/>
          </a:xfrm>
          <a:prstGeom prst="roundRect">
            <a:avLst>
              <a:gd name="adj" fmla="val 8696"/>
            </a:avLst>
          </a:prstGeom>
          <a:solidFill>
            <a:srgbClr val="F5F7FB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8"/>
          <p:cNvSpPr/>
          <p:nvPr/>
        </p:nvSpPr>
        <p:spPr>
          <a:xfrm>
            <a:off x="4229100" y="1783080"/>
            <a:ext cx="457200" cy="457200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3" name="Image 2" descr="/tmp/claude-0/-home-user-cuentavoz/fdf2c082-f526-5e3d-b5a9-2784467fe58c/scratchpad/pitch/icons/f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1970" y="188595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291840" y="23042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Digitación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623560" y="1645920"/>
            <a:ext cx="320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5943600" y="1645920"/>
            <a:ext cx="2331720" cy="1051560"/>
          </a:xfrm>
          <a:prstGeom prst="roundRect">
            <a:avLst>
              <a:gd name="adj" fmla="val 8696"/>
            </a:avLst>
          </a:prstGeom>
          <a:solidFill>
            <a:srgbClr val="F5F7FB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2"/>
          <p:cNvSpPr/>
          <p:nvPr/>
        </p:nvSpPr>
        <p:spPr>
          <a:xfrm>
            <a:off x="6880860" y="1783080"/>
            <a:ext cx="457200" cy="457200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8" name="Image 3" descr="/tmp/claude-0/-home-user-cuentavoz/fdf2c082-f526-5e3d-b5a9-2784467fe58c/scratchpad/pitch/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3730" y="1885950"/>
            <a:ext cx="251460" cy="2514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943600" y="23042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8275320" y="1645920"/>
            <a:ext cx="320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5"/>
          <p:cNvSpPr/>
          <p:nvPr/>
        </p:nvSpPr>
        <p:spPr>
          <a:xfrm>
            <a:off x="8595360" y="1645920"/>
            <a:ext cx="2331720" cy="1051560"/>
          </a:xfrm>
          <a:prstGeom prst="roundRect">
            <a:avLst>
              <a:gd name="adj" fmla="val 8696"/>
            </a:avLst>
          </a:prstGeom>
          <a:solidFill>
            <a:srgbClr val="F5F7FB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16"/>
          <p:cNvSpPr/>
          <p:nvPr/>
        </p:nvSpPr>
        <p:spPr>
          <a:xfrm>
            <a:off x="9532620" y="1783080"/>
            <a:ext cx="457200" cy="457200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3" name="Image 4" descr="/tmp/claude-0/-home-user-cuentavoz/fdf2c082-f526-5e3d-b5a9-2784467fe58c/scratchpad/pitch/icons/data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35490" y="1885950"/>
            <a:ext cx="251460" cy="2514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595360" y="23042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640080" y="281635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dato se escribe, se vuelve a escribir y se revisa a mano — cada paso es una oportunidad de error.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640080" y="33101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errores que ya conocemos</a:t>
            </a:r>
            <a:endParaRPr lang="en-US" sz="1700" dirty="0"/>
          </a:p>
        </p:txBody>
      </p:sp>
      <p:sp>
        <p:nvSpPr>
          <p:cNvPr id="27" name="Shape 20"/>
          <p:cNvSpPr/>
          <p:nvPr/>
        </p:nvSpPr>
        <p:spPr>
          <a:xfrm>
            <a:off x="640080" y="37947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889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8" name="Shape 21"/>
          <p:cNvSpPr/>
          <p:nvPr/>
        </p:nvSpPr>
        <p:spPr>
          <a:xfrm>
            <a:off x="868680" y="4023360"/>
            <a:ext cx="475488" cy="475488"/>
          </a:xfrm>
          <a:prstGeom prst="ellipse">
            <a:avLst/>
          </a:prstGeom>
          <a:solidFill>
            <a:srgbClr val="B0002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9" name="Image 5" descr="/tmp/claude-0/-home-user-cuentavoz/fdf2c082-f526-5e3d-b5a9-2784467fe58c/scratchpad/pitch/icons/bu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3287" y="4127967"/>
            <a:ext cx="266273" cy="266273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508760" y="39959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9 registrado como 90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868680" y="4581144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dígito de más o de menos descuadra todo el inventario del mes.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3502152" y="37947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889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3" name="Shape 25"/>
          <p:cNvSpPr/>
          <p:nvPr/>
        </p:nvSpPr>
        <p:spPr>
          <a:xfrm>
            <a:off x="3730752" y="4023360"/>
            <a:ext cx="475488" cy="475488"/>
          </a:xfrm>
          <a:prstGeom prst="ellipse">
            <a:avLst/>
          </a:prstGeom>
          <a:solidFill>
            <a:srgbClr val="B0002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4" name="Image 6" descr="/tmp/claude-0/-home-user-cuentavoz/fdf2c082-f526-5e3d-b5a9-2784467fe58c/scratchpad/pitch/icons/bu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35359" y="4127967"/>
            <a:ext cx="266273" cy="266273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4370832" y="39959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unidad incorrecta</a:t>
            </a:r>
            <a:endParaRPr lang="en-US" sz="1500" dirty="0"/>
          </a:p>
        </p:txBody>
      </p:sp>
      <p:sp>
        <p:nvSpPr>
          <p:cNvPr id="36" name="Text 27"/>
          <p:cNvSpPr/>
          <p:nvPr/>
        </p:nvSpPr>
        <p:spPr>
          <a:xfrm>
            <a:off x="3730752" y="4581144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Kilogramos anotados donde el catálogo espera litros o unidades.</a:t>
            </a:r>
            <a:endParaRPr lang="en-US" sz="1150" dirty="0"/>
          </a:p>
        </p:txBody>
      </p:sp>
      <p:sp>
        <p:nvSpPr>
          <p:cNvPr id="37" name="Shape 28"/>
          <p:cNvSpPr/>
          <p:nvPr/>
        </p:nvSpPr>
        <p:spPr>
          <a:xfrm>
            <a:off x="6364224" y="37947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889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8" name="Shape 29"/>
          <p:cNvSpPr/>
          <p:nvPr/>
        </p:nvSpPr>
        <p:spPr>
          <a:xfrm>
            <a:off x="6592824" y="4023360"/>
            <a:ext cx="475488" cy="475488"/>
          </a:xfrm>
          <a:prstGeom prst="ellipse">
            <a:avLst/>
          </a:prstGeom>
          <a:solidFill>
            <a:srgbClr val="B0002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9" name="Image 7" descr="/tmp/claude-0/-home-user-cuentavoz/fdf2c082-f526-5e3d-b5a9-2784467fe58c/scratchpad/pitch/icons/bu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7431" y="4127967"/>
            <a:ext cx="266273" cy="266273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7232904" y="39959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producto confundido</a:t>
            </a:r>
            <a:endParaRPr lang="en-US" sz="1500" dirty="0"/>
          </a:p>
        </p:txBody>
      </p:sp>
      <p:sp>
        <p:nvSpPr>
          <p:cNvPr id="41" name="Text 31"/>
          <p:cNvSpPr/>
          <p:nvPr/>
        </p:nvSpPr>
        <p:spPr>
          <a:xfrm>
            <a:off x="6592824" y="4581144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«Tabla para picar blanca» puede ser dos referencias distintas del catálogo.</a:t>
            </a:r>
            <a:endParaRPr lang="en-US" sz="1150" dirty="0"/>
          </a:p>
        </p:txBody>
      </p:sp>
      <p:sp>
        <p:nvSpPr>
          <p:cNvPr id="42" name="Shape 32"/>
          <p:cNvSpPr/>
          <p:nvPr/>
        </p:nvSpPr>
        <p:spPr>
          <a:xfrm>
            <a:off x="9226296" y="37947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889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3" name="Shape 33"/>
          <p:cNvSpPr/>
          <p:nvPr/>
        </p:nvSpPr>
        <p:spPr>
          <a:xfrm>
            <a:off x="9454896" y="4023360"/>
            <a:ext cx="475488" cy="475488"/>
          </a:xfrm>
          <a:prstGeom prst="ellipse">
            <a:avLst/>
          </a:prstGeom>
          <a:solidFill>
            <a:srgbClr val="B0002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4" name="Image 8" descr="/tmp/claude-0/-home-user-cuentavoz/fdf2c082-f526-5e3d-b5a9-2784467fe58c/scratchpad/pitch/icons/bu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59503" y="4127967"/>
            <a:ext cx="266273" cy="266273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10094976" y="39959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Diferencias sin explicar</a:t>
            </a:r>
            <a:endParaRPr lang="en-US" sz="1500" dirty="0"/>
          </a:p>
        </p:txBody>
      </p:sp>
      <p:sp>
        <p:nvSpPr>
          <p:cNvPr id="46" name="Text 35"/>
          <p:cNvSpPr/>
          <p:nvPr/>
        </p:nvSpPr>
        <p:spPr>
          <a:xfrm>
            <a:off x="9454896" y="4581144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físico y lo registrado no cuadran, y nadie sabe bien por qué.</a:t>
            </a:r>
            <a:endParaRPr lang="en-US" sz="1150" dirty="0"/>
          </a:p>
        </p:txBody>
      </p:sp>
      <p:sp>
        <p:nvSpPr>
          <p:cNvPr id="48" name="Text 36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49" name="Text 37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CuentaVoz · StockXperts</a:t>
            </a:r>
            <a:endParaRPr lang="en-US" sz="1000" dirty="0"/>
          </a:p>
        </p:txBody>
      </p:sp>
    </p:spTree>
  </p:cSld>
  <p:clrMapOvr>
    <a:masterClrMapping/>
  </p:clrMapOvr>
  <p:transition spd="med" advTm="250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4114800"/>
            <a:ext cx="5486400" cy="5486400"/>
          </a:xfrm>
          <a:prstGeom prst="ellipse">
            <a:avLst/>
          </a:prstGeom>
          <a:solidFill>
            <a:srgbClr val="1634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solución, en una frase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D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Voz</a:t>
            </a:r>
            <a:r>
              <a:rPr lang="en-US" sz="3800" dirty="0">
                <a:solidFill>
                  <a:srgbClr val="8FA6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  </a:t>
            </a: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Inteligencia Artificial</a:t>
            </a:r>
            <a:r>
              <a:rPr lang="en-US" sz="3800" dirty="0">
                <a:solidFill>
                  <a:srgbClr val="8FA6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  </a:t>
            </a:r>
            <a:r>
              <a:rPr lang="en-US" sz="3800" b="1" dirty="0">
                <a:solidFill>
                  <a:srgbClr val="FFD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Validaciones automáticas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271016" y="3063240"/>
            <a:ext cx="585216" cy="585216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6" name="Image 0" descr="/tmp/claude-0/-home-user-cuentavoz/fdf2c082-f526-5e3d-b5a9-2784467fe58c/scratchpad/pitch/icons/m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690" y="3194914"/>
            <a:ext cx="321869" cy="3218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77647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Escucha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22960" y="4050792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usuario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304288" y="3081528"/>
            <a:ext cx="24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776728" y="3063240"/>
            <a:ext cx="585216" cy="585216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1" name="Image 1" descr="/tmp/claude-0/-home-user-cuentavoz/fdf2c082-f526-5e3d-b5a9-2784467fe58c/scratchpad/pitch/icons/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8402" y="3194914"/>
            <a:ext cx="321869" cy="3218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328672" y="377647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2328672" y="4050792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lenguaje de bodega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3810000" y="3081528"/>
            <a:ext cx="24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4282440" y="3063240"/>
            <a:ext cx="585216" cy="585216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6" name="Image 2" descr="/tmp/claude-0/-home-user-cuentavoz/fdf2c082-f526-5e3d-b5a9-2784467fe58c/scratchpad/pitch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4114" y="3194914"/>
            <a:ext cx="321869" cy="32186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34384" y="377647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3834384" y="4050792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el catálogo oficial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5315712" y="3081528"/>
            <a:ext cx="24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5788152" y="3063240"/>
            <a:ext cx="585216" cy="585216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1" name="Image 3" descr="/tmp/claude-0/-home-user-cuentavoz/fdf2c082-f526-5e3d-b5a9-2784467fe58c/scratchpad/pitch/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9826" y="3194914"/>
            <a:ext cx="321869" cy="32186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40096" y="377647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5340096" y="4050792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cantidades y unidades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6821424" y="3081528"/>
            <a:ext cx="24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7293864" y="3063240"/>
            <a:ext cx="585216" cy="585216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6" name="Image 4" descr="/tmp/claude-0/-home-user-cuentavoz/fdf2c082-f526-5e3d-b5a9-2784467fe58c/scratchpad/pitch/icons/clip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5538" y="3194914"/>
            <a:ext cx="321869" cy="32186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45808" y="377647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6845808" y="4050792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necesidades de pedido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8327136" y="3081528"/>
            <a:ext cx="24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3"/>
          <p:cNvSpPr/>
          <p:nvPr/>
        </p:nvSpPr>
        <p:spPr>
          <a:xfrm>
            <a:off x="8799576" y="3063240"/>
            <a:ext cx="585216" cy="585216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1" name="Image 5" descr="/tmp/claude-0/-home-user-cuentavoz/fdf2c082-f526-5e3d-b5a9-2784467fe58c/scratchpad/pitch/icons/fi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31250" y="3194914"/>
            <a:ext cx="321869" cy="32186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377647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351520" y="4050792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digitalmente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9832848" y="3081528"/>
            <a:ext cx="24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7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27"/>
          <p:cNvSpPr/>
          <p:nvPr/>
        </p:nvSpPr>
        <p:spPr>
          <a:xfrm>
            <a:off x="10305288" y="3063240"/>
            <a:ext cx="585216" cy="585216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6" name="Image 6" descr="/tmp/claude-0/-home-user-cuentavoz/fdf2c082-f526-5e3d-b5a9-2784467fe58c/scratchpad/pitch/icons/ch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6962" y="3194914"/>
            <a:ext cx="321869" cy="321869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9857232" y="377647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9857232" y="4050792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y reportes</a:t>
            </a:r>
            <a:endParaRPr lang="en-US" sz="950" dirty="0"/>
          </a:p>
        </p:txBody>
      </p:sp>
      <p:sp>
        <p:nvSpPr>
          <p:cNvPr id="39" name="Text 30"/>
          <p:cNvSpPr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D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dentro de una misma plataforma — sin planillas, sin doble digitación.</a:t>
            </a:r>
            <a:endParaRPr lang="en-US" sz="1400" dirty="0"/>
          </a:p>
        </p:txBody>
      </p:sp>
      <p:sp>
        <p:nvSpPr>
          <p:cNvPr id="41" name="Text 31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2" name="Text 32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CuentaVoz · StockXperts</a:t>
            </a:r>
            <a:endParaRPr lang="en-US" sz="1000" dirty="0"/>
          </a:p>
        </p:txBody>
      </p:sp>
    </p:spTree>
  </p:cSld>
  <p:clrMapOvr>
    <a:masterClrMapping/>
  </p:clrMapOvr>
  <p:transition spd="med" advTm="200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12064" cy="512064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" name="Image 0" descr="/tmp/claude-0/-home-user-cuentavoz/fdf2c082-f526-5e3d-b5a9-2784467fe58c/scratchpad/pitch/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34" y="588142"/>
            <a:ext cx="286756" cy="2867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57200"/>
            <a:ext cx="101983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piensa el agente en cada turno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53312" y="969264"/>
            <a:ext cx="101983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pasos, cada vez que la persona habla — el modelo interpreta, pero solo el backend toca los datos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E4F0F9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1426464" y="2057400"/>
            <a:ext cx="530352" cy="530352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8" name="Image 1" descr="/tmp/claude-0/-home-user-cuentavoz/fdf2c082-f526-5e3d-b5a9-2784467fe58c/scratchpad/pitch/icons/m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141" y="2174077"/>
            <a:ext cx="296997" cy="29699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9808" y="274320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Escuchar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04672" y="3127248"/>
            <a:ext cx="17739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tableta captura el audio y lo convierte en texto (español de Colombia).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2907792" y="182880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F5F7FB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8"/>
          <p:cNvSpPr/>
          <p:nvPr/>
        </p:nvSpPr>
        <p:spPr>
          <a:xfrm>
            <a:off x="3694176" y="2057400"/>
            <a:ext cx="530352" cy="530352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3" name="Image 2" descr="/tmp/claude-0/-home-user-cuentavoz/fdf2c082-f526-5e3d-b5a9-2784467fe58c/scratchpad/pitch/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853" y="2174077"/>
            <a:ext cx="296997" cy="29699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017520" y="274320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Pensar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072384" y="3127248"/>
            <a:ext cx="17739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interpreta la frase y devuelve la intención en un formato fijo.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175504" y="182880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E4F0F9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2"/>
          <p:cNvSpPr/>
          <p:nvPr/>
        </p:nvSpPr>
        <p:spPr>
          <a:xfrm>
            <a:off x="5961888" y="2057400"/>
            <a:ext cx="530352" cy="530352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8" name="Image 3" descr="/tmp/claude-0/-home-user-cuentavoz/fdf2c082-f526-5e3d-b5a9-2784467fe58c/scratchpad/pitch/icons/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8565" y="2174077"/>
            <a:ext cx="296997" cy="29699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85232" y="274320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Actuar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340096" y="3127248"/>
            <a:ext cx="17739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orquestador ejecuta la herramienta exacta: buscar, validar, guardar.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7443216" y="182880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F5F7FB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16"/>
          <p:cNvSpPr/>
          <p:nvPr/>
        </p:nvSpPr>
        <p:spPr>
          <a:xfrm>
            <a:off x="8229600" y="2057400"/>
            <a:ext cx="530352" cy="530352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3" name="Image 4" descr="/tmp/claude-0/-home-user-cuentavoz/fdf2c082-f526-5e3d-b5a9-2784467fe58c/scratchpad/pitch/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6277" y="2174077"/>
            <a:ext cx="296997" cy="29699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552944" y="274320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Validar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7607808" y="3127248"/>
            <a:ext cx="17739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duras en código determinista: ¿existe?, ¿es posible?, ¿cuadra?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9710928" y="182880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E4F0F9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20"/>
          <p:cNvSpPr/>
          <p:nvPr/>
        </p:nvSpPr>
        <p:spPr>
          <a:xfrm>
            <a:off x="10497312" y="2057400"/>
            <a:ext cx="530352" cy="530352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8" name="Image 5" descr="/tmp/claude-0/-home-user-cuentavoz/fdf2c082-f526-5e3d-b5a9-2784467fe58c/scratchpad/pitch/icons/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13989" y="2174077"/>
            <a:ext cx="296997" cy="296997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820656" y="274320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Responder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9875520" y="3127248"/>
            <a:ext cx="17739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tableta contesta en voz y en pantalla; el estado queda actualizado.</a:t>
            </a:r>
            <a:endParaRPr lang="en-US" sz="1050" dirty="0"/>
          </a:p>
        </p:txBody>
      </p:sp>
      <p:sp>
        <p:nvSpPr>
          <p:cNvPr id="31" name="Text 23"/>
          <p:cNvSpPr/>
          <p:nvPr/>
        </p:nvSpPr>
        <p:spPr>
          <a:xfrm>
            <a:off x="2715768" y="2999232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Text 24"/>
          <p:cNvSpPr/>
          <p:nvPr/>
        </p:nvSpPr>
        <p:spPr>
          <a:xfrm>
            <a:off x="4983480" y="2999232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Text 25"/>
          <p:cNvSpPr/>
          <p:nvPr/>
        </p:nvSpPr>
        <p:spPr>
          <a:xfrm>
            <a:off x="7251192" y="2999232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Text 26"/>
          <p:cNvSpPr/>
          <p:nvPr/>
        </p:nvSpPr>
        <p:spPr>
          <a:xfrm>
            <a:off x="9518904" y="2999232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Shape 27"/>
          <p:cNvSpPr/>
          <p:nvPr/>
        </p:nvSpPr>
        <p:spPr>
          <a:xfrm>
            <a:off x="640080" y="4800600"/>
            <a:ext cx="11173968" cy="777240"/>
          </a:xfrm>
          <a:prstGeom prst="roundRect">
            <a:avLst>
              <a:gd name="adj" fmla="val 11765"/>
            </a:avLst>
          </a:prstGeom>
          <a:solidFill>
            <a:srgbClr val="10294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6" name="Text 28"/>
          <p:cNvSpPr/>
          <p:nvPr/>
        </p:nvSpPr>
        <p:spPr>
          <a:xfrm>
            <a:off x="914400" y="4800600"/>
            <a:ext cx="10625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que sostiene todo el diseño: el agente propone, el backend dispone.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CuentaVoz · StockXperts</a:t>
            </a:r>
            <a:endParaRPr lang="en-US" sz="1000" dirty="0"/>
          </a:p>
        </p:txBody>
      </p:sp>
    </p:spTree>
  </p:cSld>
  <p:clrMapOvr>
    <a:masterClrMapping/>
  </p:clrMapOvr>
  <p:transition spd="med" advTm="200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12064" cy="512064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" name="Image 0" descr="/tmp/claude-0/-home-user-cuentavoz/fdf2c082-f526-5e3d-b5a9-2784467fe58c/scratchpad/pitch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34" y="588142"/>
            <a:ext cx="286756" cy="2867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57200"/>
            <a:ext cx="101983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momentos, una sola plataforma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53312" y="969264"/>
            <a:ext cx="101983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pedido al almacén hasta la legalización del servicio — sin salir de CuentaVoz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3429000" cy="37490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01600" dist="38100" dir="5400000" algn="bl" rotWithShape="0">
              <a:srgbClr val="1B3A6B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914400" y="2121408"/>
            <a:ext cx="566928" cy="56692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8" name="Image 1" descr="/tmp/claude-0/-home-user-cuentavoz/fdf2c082-f526-5e3d-b5a9-2784467fe58c/scratchpad/pitch/icons/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124" y="2246132"/>
            <a:ext cx="317480" cy="317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28346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Pedido al almacén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914400" y="3255264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4F0F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7"/>
          <p:cNvSpPr/>
          <p:nvPr/>
        </p:nvSpPr>
        <p:spPr>
          <a:xfrm>
            <a:off x="914400" y="32552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Pedidos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914400" y="379476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«Hoy preparamos cincuenta ajiacos» — el agente explota la receta, descuenta el stock disponible y calcula solo lo que de verdad falta pedir.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389120" y="1828800"/>
            <a:ext cx="3429000" cy="37490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01600" dist="38100" dir="5400000" algn="bl" rotWithShape="0">
              <a:srgbClr val="1B3A6B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0"/>
          <p:cNvSpPr/>
          <p:nvPr/>
        </p:nvSpPr>
        <p:spPr>
          <a:xfrm>
            <a:off x="4663440" y="2121408"/>
            <a:ext cx="566928" cy="56692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5" name="Image 2" descr="/tmp/claude-0/-home-user-cuentavoz/fdf2c082-f526-5e3d-b5a9-2784467fe58c/scratchpad/pitch/icons/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8164" y="2246132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63440" y="28346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Toma física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4663440" y="3255264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4F0F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3"/>
          <p:cNvSpPr/>
          <p:nvPr/>
        </p:nvSpPr>
        <p:spPr>
          <a:xfrm>
            <a:off x="4663440" y="32552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Conteo y Bodegas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663440" y="379476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persona dicta y el agente concilia contra el catálogo oficial, valida cantidades y unidades, y registra con trazabilidad completa.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138160" y="1828800"/>
            <a:ext cx="3429000" cy="37490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01600" dist="38100" dir="5400000" algn="bl" rotWithShape="0">
              <a:srgbClr val="1B3A6B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6"/>
          <p:cNvSpPr/>
          <p:nvPr/>
        </p:nvSpPr>
        <p:spPr>
          <a:xfrm>
            <a:off x="8412480" y="2121408"/>
            <a:ext cx="566928" cy="56692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2" name="Image 3" descr="/tmp/claude-0/-home-user-cuentavoz/fdf2c082-f526-5e3d-b5a9-2784467fe58c/scratchpad/pitch/icons/sca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7204" y="2246132"/>
            <a:ext cx="317480" cy="317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412480" y="28346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Legalización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8412480" y="3255264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4F0F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19"/>
          <p:cNvSpPr/>
          <p:nvPr/>
        </p:nvSpPr>
        <p:spPr>
          <a:xfrm>
            <a:off x="8412480" y="32552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Legalización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8412480" y="379476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 lo pedido contra lo realmente usado: el sobrante vuelve a bodega, la merma queda registrada y explicada.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4041648" y="3474720"/>
            <a:ext cx="374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Text 22"/>
          <p:cNvSpPr/>
          <p:nvPr/>
        </p:nvSpPr>
        <p:spPr>
          <a:xfrm>
            <a:off x="7790688" y="3474720"/>
            <a:ext cx="374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Text 23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CuentaVoz · StockXperts</a:t>
            </a:r>
            <a:endParaRPr lang="en-US" sz="1000" dirty="0"/>
          </a:p>
        </p:txBody>
      </p:sp>
    </p:spTree>
  </p:cSld>
  <p:clrMapOvr>
    <a:masterClrMapping/>
  </p:clrMapOvr>
  <p:transition spd="med" advTm="150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12064" cy="512064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" name="Image 0" descr="/tmp/claude-0/-home-user-cuentavoz/fdf2c082-f526-5e3d-b5a9-2784467fe58c/scratchpad/pitch/icons/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34" y="588142"/>
            <a:ext cx="286756" cy="2867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57200"/>
            <a:ext cx="101983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CuentaVoz en acción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53312" y="969264"/>
            <a:ext cx="101983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reales de producción — cuentavoz.onrender.com, no una maqueta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824500" y="1728216"/>
            <a:ext cx="2924992" cy="4727448"/>
          </a:xfrm>
          <a:prstGeom prst="roundRect">
            <a:avLst>
              <a:gd name="adj" fmla="val 4377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27000" dist="50800" dir="5400000" algn="bl" rotWithShape="0">
              <a:srgbClr val="1B3A6B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7" name="Image 1" descr="/home/user/cuentavoz/docs/capturas/tablet/inicio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879364" y="1783080"/>
            <a:ext cx="2815264" cy="46177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79364" y="6547104"/>
            <a:ext cx="281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879364" y="6839712"/>
            <a:ext cx="281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resumen del día, según el perfil de quien entra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096965" y="1728216"/>
            <a:ext cx="2529236" cy="4727448"/>
          </a:xfrm>
          <a:prstGeom prst="roundRect">
            <a:avLst>
              <a:gd name="adj" fmla="val 5061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27000" dist="50800" dir="5400000" algn="bl" rotWithShape="0">
              <a:srgbClr val="1B3A6B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1" name="Image 2" descr="/home/user/cuentavoz/docs/capturas/tablet/conteo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151829" y="1783080"/>
            <a:ext cx="2419508" cy="46177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51829" y="6547104"/>
            <a:ext cx="24195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Conteo por voz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5151829" y="6839712"/>
            <a:ext cx="2419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tableta escucha, concilia y valida en tiempo real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7973673" y="1728216"/>
            <a:ext cx="2393522" cy="4727448"/>
          </a:xfrm>
          <a:prstGeom prst="roundRect">
            <a:avLst>
              <a:gd name="adj" fmla="val 5348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127000" dist="50800" dir="5400000" algn="bl" rotWithShape="0">
              <a:srgbClr val="1B3A6B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5" name="Image 3" descr="/home/user/cuentavoz/docs/capturas/tablet/panel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028537" y="1783080"/>
            <a:ext cx="2283794" cy="46177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028537" y="6547104"/>
            <a:ext cx="22837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gerencial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8028537" y="6839712"/>
            <a:ext cx="2283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Exactitud, diferencias y stock — calculado en vivo</a:t>
            </a:r>
            <a:endParaRPr lang="en-US" sz="1050" dirty="0"/>
          </a:p>
        </p:txBody>
      </p:sp>
      <p:sp>
        <p:nvSpPr>
          <p:cNvPr id="19" name="Text 12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CuentaVoz · StockXperts</a:t>
            </a:r>
            <a:endParaRPr lang="en-US" sz="1000" dirty="0"/>
          </a:p>
        </p:txBody>
      </p:sp>
    </p:spTree>
  </p:cSld>
  <p:clrMapOvr>
    <a:masterClrMapping/>
  </p:clrMapOvr>
  <p:transition spd="med" advTm="600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12064" cy="512064"/>
          </a:xfrm>
          <a:prstGeom prst="ellipse">
            <a:avLst/>
          </a:prstGeom>
          <a:solidFill>
            <a:srgbClr val="1E7A4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" name="Image 0" descr="/tmp/claude-0/-home-user-cuentavoz/fdf2c082-f526-5e3d-b5a9-2784467fe58c/scratchpad/pitch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34" y="588142"/>
            <a:ext cx="286756" cy="2867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57200"/>
            <a:ext cx="101983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Nada se guarda sin validar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53312" y="969264"/>
            <a:ext cx="101983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duras en código determinista — el modelo interpreta, el backend decide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52578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889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868680" y="2194560"/>
            <a:ext cx="475488" cy="47548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8" name="Image 1" descr="/tmp/claude-0/-home-user-cuentavoz/fdf2c082-f526-5e3d-b5a9-2784467fe58c/scratchpad/pitch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287" y="2299167"/>
            <a:ext cx="266273" cy="26627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21671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Nombres que no coinciden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68680" y="2752344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«tabla para picar blanca» se concilia sola contra el catálogo oficial: TABLA ACRILICA PICAR BLANCO 50X38CM FB (97503004). Si hay dos candidatas, el agente pregunta.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263640" y="1965960"/>
            <a:ext cx="52578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889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8"/>
          <p:cNvSpPr/>
          <p:nvPr/>
        </p:nvSpPr>
        <p:spPr>
          <a:xfrm>
            <a:off x="6492240" y="2194560"/>
            <a:ext cx="475488" cy="475488"/>
          </a:xfrm>
          <a:prstGeom prst="ellipse">
            <a:avLst/>
          </a:prstGeom>
          <a:solidFill>
            <a:srgbClr val="8A6D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3" name="Image 2" descr="/tmp/claude-0/-home-user-cuentavoz/fdf2c082-f526-5e3d-b5a9-2784467fe58c/scratchpad/pitch/icons/warn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6847" y="2299167"/>
            <a:ext cx="266273" cy="26627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32320" y="21671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Cantidades fuera de lo esperado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492240" y="2752344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«noventa cazuelas» dispara: «el sistema espera alrededor de 10, ¿confirma 90?» — el famoso error del 9 registrado como 90, detenido en el origen.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4023360"/>
            <a:ext cx="52578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889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2"/>
          <p:cNvSpPr/>
          <p:nvPr/>
        </p:nvSpPr>
        <p:spPr>
          <a:xfrm>
            <a:off x="868680" y="4251960"/>
            <a:ext cx="475488" cy="47548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8" name="Image 3" descr="/tmp/claude-0/-home-user-cuentavoz/fdf2c082-f526-5e3d-b5a9-2784467fe58c/scratchpad/pitch/icons/sca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287" y="4356567"/>
            <a:ext cx="266273" cy="26627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42245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equivocadas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868680" y="4809744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kilos no se confunde con cinco gramos: cada artículo tiene su unidad oficial del catálogo, y el agente la hace respetar.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263640" y="4023360"/>
            <a:ext cx="52578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889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Shape 16"/>
          <p:cNvSpPr/>
          <p:nvPr/>
        </p:nvSpPr>
        <p:spPr>
          <a:xfrm>
            <a:off x="6492240" y="4251960"/>
            <a:ext cx="475488" cy="475488"/>
          </a:xfrm>
          <a:prstGeom prst="ellipse">
            <a:avLst/>
          </a:prstGeom>
          <a:solidFill>
            <a:srgbClr val="B0002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3" name="Image 4" descr="/tmp/claude-0/-home-user-cuentavoz/fdf2c082-f526-5e3d-b5a9-2784467fe58c/scratchpad/pitch/icons/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6847" y="4356567"/>
            <a:ext cx="266273" cy="26627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32320" y="42245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Saldos imposibles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6492240" y="4809744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cantidad negativa se rechaza con una explicación hablada, no con un error críptico de sistema.</a:t>
            </a:r>
            <a:endParaRPr lang="en-US" sz="1150" dirty="0"/>
          </a:p>
        </p:txBody>
      </p:sp>
      <p:sp>
        <p:nvSpPr>
          <p:cNvPr id="27" name="Text 1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CuentaVoz · StockXperts</a:t>
            </a:r>
            <a:endParaRPr lang="en-US" sz="1000" dirty="0"/>
          </a:p>
        </p:txBody>
      </p:sp>
    </p:spTree>
  </p:cSld>
  <p:clrMapOvr>
    <a:masterClrMapping/>
  </p:clrMapOvr>
  <p:transition spd="med" advTm="200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12064" cy="512064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" name="Image 0" descr="/tmp/claude-0/-home-user-cuentavoz/fdf2c082-f526-5e3d-b5a9-2784467fe58c/scratchpad/pitch/icons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34" y="588142"/>
            <a:ext cx="286756" cy="2867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57200"/>
            <a:ext cx="101983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Arquitectura: simple, real y en producción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53312" y="969264"/>
            <a:ext cx="101983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servicios desplegados por separado en Render, con Gemini como cerebro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E4F0F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768096" y="2203704"/>
            <a:ext cx="457200" cy="457200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8" name="Image 1" descr="/tmp/claude-0/-home-user-cuentavoz/fdf2c082-f526-5e3d-b5a9-2784467fe58c/scratchpad/pitch/icons/m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966" y="2306574"/>
            <a:ext cx="251460" cy="251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209397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298448" y="2468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 o texto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880360" y="1965960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E4F0F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8"/>
          <p:cNvSpPr/>
          <p:nvPr/>
        </p:nvSpPr>
        <p:spPr>
          <a:xfrm>
            <a:off x="3008376" y="2203704"/>
            <a:ext cx="457200" cy="457200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3" name="Image 2" descr="/tmp/claude-0/-home-user-cuentavoz/fdf2c082-f526-5e3d-b5a9-2784467fe58c/scratchpad/pitch/icons/rea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1246" y="2306574"/>
            <a:ext cx="251460" cy="2514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38728" y="209397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538728" y="2468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Site · Render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120640" y="1965960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10294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Shape 12"/>
          <p:cNvSpPr/>
          <p:nvPr/>
        </p:nvSpPr>
        <p:spPr>
          <a:xfrm>
            <a:off x="5248656" y="2203704"/>
            <a:ext cx="457200" cy="457200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8" name="Image 3" descr="/tmp/claude-0/-home-user-cuentavoz/fdf2c082-f526-5e3d-b5a9-2784467fe58c/scratchpad/pitch/icons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1526" y="2306574"/>
            <a:ext cx="251460" cy="2514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779008" y="209397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5779008" y="2468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 · Render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2606040" y="1965960"/>
            <a:ext cx="274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4846320" y="1965960"/>
            <a:ext cx="274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6103620" y="3017520"/>
            <a:ext cx="0" cy="502920"/>
          </a:xfrm>
          <a:prstGeom prst="line">
            <a:avLst/>
          </a:prstGeom>
          <a:noFill/>
          <a:ln w="19050">
            <a:solidFill>
              <a:srgbClr val="D8E2EC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18"/>
          <p:cNvSpPr/>
          <p:nvPr/>
        </p:nvSpPr>
        <p:spPr>
          <a:xfrm>
            <a:off x="2468880" y="352044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F5F7FB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19"/>
          <p:cNvSpPr/>
          <p:nvPr/>
        </p:nvSpPr>
        <p:spPr>
          <a:xfrm>
            <a:off x="3232404" y="3648456"/>
            <a:ext cx="438912" cy="438912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6" name="Image 4" descr="/tmp/claude-0/-home-user-cuentavoz/fdf2c082-f526-5e3d-b5a9-2784467fe58c/scratchpad/pitch/icons/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8965" y="3745017"/>
            <a:ext cx="245791" cy="24579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468880" y="40873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103620" y="3017520"/>
            <a:ext cx="0" cy="502920"/>
          </a:xfrm>
          <a:prstGeom prst="line">
            <a:avLst/>
          </a:prstGeom>
          <a:noFill/>
          <a:ln w="19050">
            <a:solidFill>
              <a:srgbClr val="D8E2EC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29" name="Shape 22"/>
          <p:cNvSpPr/>
          <p:nvPr/>
        </p:nvSpPr>
        <p:spPr>
          <a:xfrm>
            <a:off x="5120640" y="352044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F5F7FB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Shape 23"/>
          <p:cNvSpPr/>
          <p:nvPr/>
        </p:nvSpPr>
        <p:spPr>
          <a:xfrm>
            <a:off x="5884164" y="3648456"/>
            <a:ext cx="438912" cy="438912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1" name="Image 5" descr="/tmp/claude-0/-home-user-cuentavoz/fdf2c082-f526-5e3d-b5a9-2784467fe58c/scratchpad/pitch/icons/bra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0725" y="3745017"/>
            <a:ext cx="245791" cy="24579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120640" y="40873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6103620" y="3017520"/>
            <a:ext cx="2651760" cy="502920"/>
          </a:xfrm>
          <a:prstGeom prst="line">
            <a:avLst/>
          </a:prstGeom>
          <a:noFill/>
          <a:ln w="19050">
            <a:solidFill>
              <a:srgbClr val="D8E2EC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34" name="Shape 26"/>
          <p:cNvSpPr/>
          <p:nvPr/>
        </p:nvSpPr>
        <p:spPr>
          <a:xfrm>
            <a:off x="7772400" y="352044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F5F7FB"/>
          </a:solidFill>
          <a:ln w="1270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Shape 27"/>
          <p:cNvSpPr/>
          <p:nvPr/>
        </p:nvSpPr>
        <p:spPr>
          <a:xfrm>
            <a:off x="8535924" y="3648456"/>
            <a:ext cx="438912" cy="438912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6" name="Image 6" descr="/tmp/claude-0/-home-user-cuentavoz/fdf2c082-f526-5e3d-b5a9-2784467fe58c/scratchpad/pitch/icons/m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2485" y="3745017"/>
            <a:ext cx="245791" cy="245791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772400" y="40873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Intérprete local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2194560" y="45445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catálogo, stock, trazabilidad — 19 tablas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4846320" y="45445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entiende lenguaje natural de bodega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7498080" y="45445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respaldo sin internet ni llave de IA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609448" y="525780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0294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2" name="Text 33"/>
          <p:cNvSpPr/>
          <p:nvPr/>
        </p:nvSpPr>
        <p:spPr>
          <a:xfrm>
            <a:off x="609448" y="5257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100" dirty="0"/>
          </a:p>
        </p:txBody>
      </p:sp>
      <p:sp>
        <p:nvSpPr>
          <p:cNvPr id="43" name="Shape 34"/>
          <p:cNvSpPr/>
          <p:nvPr/>
        </p:nvSpPr>
        <p:spPr>
          <a:xfrm>
            <a:off x="2465680" y="525780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0294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4" name="Text 35"/>
          <p:cNvSpPr/>
          <p:nvPr/>
        </p:nvSpPr>
        <p:spPr>
          <a:xfrm>
            <a:off x="2465680" y="5257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45" name="Shape 36"/>
          <p:cNvSpPr/>
          <p:nvPr/>
        </p:nvSpPr>
        <p:spPr>
          <a:xfrm>
            <a:off x="4321912" y="525780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0294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6" name="Text 37"/>
          <p:cNvSpPr/>
          <p:nvPr/>
        </p:nvSpPr>
        <p:spPr>
          <a:xfrm>
            <a:off x="4321912" y="5257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47" name="Shape 38"/>
          <p:cNvSpPr/>
          <p:nvPr/>
        </p:nvSpPr>
        <p:spPr>
          <a:xfrm>
            <a:off x="6178144" y="525780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0294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8" name="Text 39"/>
          <p:cNvSpPr/>
          <p:nvPr/>
        </p:nvSpPr>
        <p:spPr>
          <a:xfrm>
            <a:off x="6178144" y="5257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100" dirty="0"/>
          </a:p>
        </p:txBody>
      </p:sp>
      <p:sp>
        <p:nvSpPr>
          <p:cNvPr id="49" name="Shape 40"/>
          <p:cNvSpPr/>
          <p:nvPr/>
        </p:nvSpPr>
        <p:spPr>
          <a:xfrm>
            <a:off x="8034376" y="525780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0294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0" name="Text 41"/>
          <p:cNvSpPr/>
          <p:nvPr/>
        </p:nvSpPr>
        <p:spPr>
          <a:xfrm>
            <a:off x="8034376" y="5257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WebAuthn</a:t>
            </a:r>
            <a:endParaRPr lang="en-US" sz="1100" dirty="0"/>
          </a:p>
        </p:txBody>
      </p:sp>
      <p:sp>
        <p:nvSpPr>
          <p:cNvPr id="51" name="Shape 42"/>
          <p:cNvSpPr/>
          <p:nvPr/>
        </p:nvSpPr>
        <p:spPr>
          <a:xfrm>
            <a:off x="9890608" y="525780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0294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2" name="Text 43"/>
          <p:cNvSpPr/>
          <p:nvPr/>
        </p:nvSpPr>
        <p:spPr>
          <a:xfrm>
            <a:off x="9890608" y="5257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100" dirty="0"/>
          </a:p>
        </p:txBody>
      </p:sp>
      <p:sp>
        <p:nvSpPr>
          <p:cNvPr id="54" name="Text 44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55" name="Text 45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CuentaVoz · StockXperts</a:t>
            </a:r>
            <a:endParaRPr lang="en-US" sz="1000" dirty="0"/>
          </a:p>
        </p:txBody>
      </p:sp>
    </p:spTree>
  </p:cSld>
  <p:clrMapOvr>
    <a:masterClrMapping/>
  </p:clrMapOvr>
  <p:transition spd="med" advTm="150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12064" cy="512064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" name="Image 0" descr="/tmp/claude-0/-home-user-cuentavoz/fdf2c082-f526-5e3d-b5a9-2784467fe58c/scratchpad/pitch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34" y="588142"/>
            <a:ext cx="286756" cy="2867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57200"/>
            <a:ext cx="101983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reales, no una demo simulada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53312" y="969264"/>
            <a:ext cx="101983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extracto real que entregó Colsubsidio — cargado, probado y funcionando hoy</a:t>
            </a:r>
            <a:endParaRPr lang="en-US" sz="14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7452360" y="1920240"/>
          <a:ext cx="3200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" name="Text 19"/>
          <p:cNvSpPr/>
          <p:nvPr/>
        </p:nvSpPr>
        <p:spPr>
          <a:xfrm>
            <a:off x="7452360" y="311810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2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88.2%</a:t>
            </a:r>
            <a:endParaRPr lang="en-US" sz="3000" dirty="0"/>
          </a:p>
        </p:txBody>
      </p:sp>
      <p:sp>
        <p:nvSpPr>
          <p:cNvPr id="24" name="Text 20"/>
          <p:cNvSpPr/>
          <p:nvPr/>
        </p:nvSpPr>
        <p:spPr>
          <a:xfrm>
            <a:off x="7452360" y="3657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pasada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7132320" y="52303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 real del panel gerencial — calculado en vivo, sin curar.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640080" y="6126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data/BODEGAS_Y_STOCK.xlsx — verificado corriendo el cargador real contra el archivo que entregó Colsubsidio.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CuentaVoz · StockXperts</a:t>
            </a:r>
            <a:endParaRPr lang="en-US" sz="1000" dirty="0"/>
          </a:p>
        </p:txBody>
      </p:sp>
      <p:sp>
        <p:nvSpPr>
          <p:cNvPr id="30" name="Rounded Rectangle 29"/>
          <p:cNvSpPr/>
          <p:nvPr/>
        </p:nvSpPr>
        <p:spPr>
          <a:xfrm>
            <a:off x="640080" y="1920240"/>
            <a:ext cx="2788920" cy="1737360"/>
          </a:xfrm>
          <a:prstGeom prst="roundRect">
            <a:avLst/>
          </a:prstGeom>
          <a:solidFill>
            <a:srgbClr val="103158"/>
          </a:solidFill>
          <a:ln w="10160">
            <a:solidFill>
              <a:srgbClr val="10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22959" y="210312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warehou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2167128"/>
            <a:ext cx="347472" cy="34747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22959" y="2670048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 Display"/>
              </a:rPr>
              <a:t>54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" y="3145536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CC00"/>
                </a:solidFill>
                <a:latin typeface="Aptos"/>
              </a:rPr>
              <a:t>bodegas reales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59" y="3419856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DCE5F0"/>
                </a:solidFill>
                <a:latin typeface="Aptos"/>
              </a:rPr>
              <a:t>cocinas, almacenes y kioscos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85032" y="1920240"/>
            <a:ext cx="2788920" cy="1737360"/>
          </a:xfrm>
          <a:prstGeom prst="roundRect">
            <a:avLst/>
          </a:prstGeom>
          <a:solidFill>
            <a:srgbClr val="103158"/>
          </a:solidFill>
          <a:ln w="10160">
            <a:solidFill>
              <a:srgbClr val="10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867912" y="210312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catalo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1920" y="2167128"/>
            <a:ext cx="347472" cy="34747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3867912" y="2670048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 Display"/>
              </a:rPr>
              <a:t>1.040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67912" y="3145536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CC00"/>
                </a:solidFill>
                <a:latin typeface="Aptos"/>
              </a:rPr>
              <a:t>artículos del catálogo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67912" y="3419856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DCE5F0"/>
                </a:solidFill>
                <a:latin typeface="Aptos"/>
              </a:rPr>
              <a:t>extracto oficial de My Inventory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3913632"/>
            <a:ext cx="2788920" cy="1737360"/>
          </a:xfrm>
          <a:prstGeom prst="roundRect">
            <a:avLst/>
          </a:prstGeom>
          <a:solidFill>
            <a:srgbClr val="103158"/>
          </a:solidFill>
          <a:ln w="10160">
            <a:solidFill>
              <a:srgbClr val="10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822959" y="4096512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st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" y="4160520"/>
            <a:ext cx="347472" cy="34747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22959" y="4663440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 Display"/>
              </a:rPr>
              <a:t>1.405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59" y="5138928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CC00"/>
                </a:solidFill>
                <a:latin typeface="Aptos"/>
              </a:rPr>
              <a:t>registros de stock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59" y="5413248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DCE5F0"/>
                </a:solidFill>
                <a:latin typeface="Aptos"/>
              </a:rPr>
              <a:t>cargados y consultables en vivo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685032" y="3913632"/>
            <a:ext cx="2788920" cy="1737360"/>
          </a:xfrm>
          <a:prstGeom prst="roundRect">
            <a:avLst/>
          </a:prstGeom>
          <a:solidFill>
            <a:srgbClr val="FFCC00"/>
          </a:solidFill>
          <a:ln w="1016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3867912" y="4096512"/>
            <a:ext cx="475488" cy="475488"/>
          </a:xfrm>
          <a:prstGeom prst="ellipse">
            <a:avLst/>
          </a:prstGeom>
          <a:solidFill>
            <a:srgbClr val="103158"/>
          </a:solidFill>
          <a:ln w="12700">
            <a:solidFill>
              <a:srgbClr val="10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867912" y="4663440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103158"/>
                </a:solidFill>
                <a:latin typeface="Aptos Display"/>
              </a:rPr>
              <a:t>79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67912" y="5138928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3158"/>
                </a:solidFill>
                <a:latin typeface="Aptos"/>
              </a:rPr>
              <a:t>saldos negativos detectados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67912" y="5413248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34E5A"/>
                </a:solidFill>
                <a:latin typeface="Aptos"/>
              </a:rPr>
              <a:t>encontrados automáticamente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52360" y="16002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B4F8A"/>
                </a:solidFill>
                <a:latin typeface="Aptos"/>
              </a:rPr>
              <a:t>INDICADOR EJECUTIVO</a:t>
            </a:r>
          </a:p>
        </p:txBody>
      </p:sp>
      <p:sp>
        <p:nvSpPr>
          <p:cNvPr id="55" name="Oval 54"/>
          <p:cNvSpPr/>
          <p:nvPr/>
        </p:nvSpPr>
        <p:spPr>
          <a:xfrm>
            <a:off x="3867912" y="4096512"/>
            <a:ext cx="475488" cy="475488"/>
          </a:xfrm>
          <a:prstGeom prst="ellipse">
            <a:avLst/>
          </a:prstGeom>
          <a:solidFill>
            <a:srgbClr val="D6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Aptos Display"/>
              </a:rPr>
              <a:t>!</a:t>
            </a:r>
          </a:p>
        </p:txBody>
      </p:sp>
    </p:spTree>
  </p:cSld>
  <p:clrMapOvr>
    <a:masterClrMapping/>
  </p:clrMapOvr>
  <p:transition spd="med" advTm="250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12064" cy="512064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" name="Image 0" descr="/tmp/claude-0/-home-user-cuentavoz/fdf2c082-f526-5e3d-b5a9-2784467fe58c/scratchpad/pitch/icons/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34" y="588142"/>
            <a:ext cx="286756" cy="2867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57200"/>
            <a:ext cx="101983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pensada desde el primer día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53312" y="969264"/>
            <a:ext cx="101983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custodia el inventario de Colsubsidio — se blinda con la misma seriedad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889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868680" y="2057400"/>
            <a:ext cx="475488" cy="47548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8" name="Image 1" descr="/tmp/claude-0/-home-user-cuentavoz/fdf2c082-f526-5e3d-b5a9-2784467fe58c/scratchpad/pitch/icons/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287" y="2162007"/>
            <a:ext cx="266273" cy="26627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20299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 cifradas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68680" y="2615184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+ token JWT que vence; cambiar el PIN invalida todas las sesiones anteriores.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389120" y="182880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889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8"/>
          <p:cNvSpPr/>
          <p:nvPr/>
        </p:nvSpPr>
        <p:spPr>
          <a:xfrm>
            <a:off x="4617720" y="2057400"/>
            <a:ext cx="475488" cy="47548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3" name="Image 2" descr="/tmp/claude-0/-home-user-cuentavoz/fdf2c082-f526-5e3d-b5a9-2784467fe58c/scratchpad/pitch/icons/fingerpr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327" y="2162007"/>
            <a:ext cx="266273" cy="26627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57800" y="20299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con huella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617720" y="2615184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WebAuthn real — Windows Hello, Touch ID o huella de Android, no una simulación.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138160" y="182880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889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2"/>
          <p:cNvSpPr/>
          <p:nvPr/>
        </p:nvSpPr>
        <p:spPr>
          <a:xfrm>
            <a:off x="8366760" y="2057400"/>
            <a:ext cx="475488" cy="47548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8" name="Image 3" descr="/tmp/claude-0/-home-user-cuentavoz/fdf2c082-f526-5e3d-b5a9-2784467fe58c/scratchpad/pitch/icons/accessib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1367" y="2162007"/>
            <a:ext cx="266273" cy="26627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06840" y="20299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Accesibilidad WCAG AA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8366760" y="2615184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completa por teclado, lector de pantalla y contraste verificado.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40080" y="379476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889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Shape 16"/>
          <p:cNvSpPr/>
          <p:nvPr/>
        </p:nvSpPr>
        <p:spPr>
          <a:xfrm>
            <a:off x="868680" y="4023360"/>
            <a:ext cx="475488" cy="47548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3" name="Image 4" descr="/tmp/claude-0/-home-user-cuentavoz/fdf2c082-f526-5e3d-b5a9-2784467fe58c/scratchpad/pitch/icons/wifi_o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287" y="4127967"/>
            <a:ext cx="266273" cy="26627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508760" y="39959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sin conexión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868680" y="4581144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real: lo contado sin señal se sincroniza solo al volver — el conteo no se detiene.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4389120" y="379476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889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Shape 20"/>
          <p:cNvSpPr/>
          <p:nvPr/>
        </p:nvSpPr>
        <p:spPr>
          <a:xfrm>
            <a:off x="4617720" y="4023360"/>
            <a:ext cx="475488" cy="47548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8" name="Image 5" descr="/tmp/claude-0/-home-user-cuentavoz/fdf2c082-f526-5e3d-b5a9-2784467fe58c/scratchpad/pitch/icons/clou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2327" y="4127967"/>
            <a:ext cx="266273" cy="266273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257800" y="39959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producción, no en un laptop</a:t>
            </a:r>
            <a:endParaRPr lang="en-US" sz="1500" dirty="0"/>
          </a:p>
        </p:txBody>
      </p:sp>
      <p:sp>
        <p:nvSpPr>
          <p:cNvPr id="30" name="Text 22"/>
          <p:cNvSpPr/>
          <p:nvPr/>
        </p:nvSpPr>
        <p:spPr>
          <a:xfrm>
            <a:off x="4617720" y="4581144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Desplegado en Render con HTTPS automático — cuentavoz.onrender.com responde hoy.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8138160" y="379476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889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2" name="Shape 24"/>
          <p:cNvSpPr/>
          <p:nvPr/>
        </p:nvSpPr>
        <p:spPr>
          <a:xfrm>
            <a:off x="8366760" y="4023360"/>
            <a:ext cx="475488" cy="47548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3" name="Image 6" descr="/tmp/claude-0/-home-user-cuentavoz/fdf2c082-f526-5e3d-b5a9-2784467fe58c/scratchpad/pitch/icons/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1367" y="4127967"/>
            <a:ext cx="266273" cy="266273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006840" y="39959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inmutable</a:t>
            </a:r>
            <a:endParaRPr lang="en-US" sz="1500" dirty="0"/>
          </a:p>
        </p:txBody>
      </p:sp>
      <p:sp>
        <p:nvSpPr>
          <p:cNvPr id="35" name="Text 26"/>
          <p:cNvSpPr/>
          <p:nvPr/>
        </p:nvSpPr>
        <p:spPr>
          <a:xfrm>
            <a:off x="8366760" y="4581144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se borra: una corrección crea un registro nuevo que apunta al original.</a:t>
            </a:r>
            <a:endParaRPr lang="en-US" sz="1150" dirty="0"/>
          </a:p>
        </p:txBody>
      </p:sp>
      <p:sp>
        <p:nvSpPr>
          <p:cNvPr id="37" name="Text 27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8" name="Text 28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CuentaVoz · StockXperts</a:t>
            </a:r>
            <a:endParaRPr lang="en-US" sz="1000" dirty="0"/>
          </a:p>
        </p:txBody>
      </p:sp>
    </p:spTree>
  </p:cSld>
  <p:clrMapOvr>
    <a:masterClrMapping/>
  </p:clrMapOvr>
  <p:transition spd="med" advTm="100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2743200"/>
            <a:ext cx="6400800" cy="6400800"/>
          </a:xfrm>
          <a:prstGeom prst="ellipse">
            <a:avLst/>
          </a:prstGeom>
          <a:solidFill>
            <a:srgbClr val="1634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640080" y="475488"/>
            <a:ext cx="512064" cy="512064"/>
          </a:xfrm>
          <a:prstGeom prst="ellipse">
            <a:avLst/>
          </a:prstGeom>
          <a:solidFill>
            <a:srgbClr val="8A6D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0" descr="/tmp/claude-0/-home-user-cuentavoz/fdf2c082-f526-5e3d-b5a9-2784467fe58c/scratchpad/pitch/icons/handsh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34" y="588142"/>
            <a:ext cx="286756" cy="2867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53312" y="457200"/>
            <a:ext cx="101983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esto significa para Colsubsidio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22960" y="228600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1634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1097280" y="2711196"/>
            <a:ext cx="566928" cy="56692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8" name="Image 1" descr="/tmp/claude-0/-home-user-cuentavoz/fdf2c082-f526-5e3d-b5a9-2784467fe58c/scratchpad/pitch/icons/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2004" y="2835920"/>
            <a:ext cx="317480" cy="317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28800" y="245059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con datos reales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828800" y="2862072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 memoria ni con planillas sueltas por bodega.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0" y="228600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1634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8"/>
          <p:cNvSpPr/>
          <p:nvPr/>
        </p:nvSpPr>
        <p:spPr>
          <a:xfrm>
            <a:off x="6675120" y="2711196"/>
            <a:ext cx="566928" cy="56692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3" name="Image 2" descr="/tmp/claude-0/-home-user-cuentavoz/fdf2c082-f526-5e3d-b5a9-2784467fe58c/scratchpad/pitch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9844" y="2835920"/>
            <a:ext cx="317480" cy="317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06640" y="245059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total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406640" y="2862072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conteo, cada corrección y cada firma quedan registrados, con quién y cuándo.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22960" y="438912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1634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Shape 12"/>
          <p:cNvSpPr/>
          <p:nvPr/>
        </p:nvSpPr>
        <p:spPr>
          <a:xfrm>
            <a:off x="1097280" y="4814316"/>
            <a:ext cx="566928" cy="56692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8" name="Image 3" descr="/tmp/claude-0/-home-user-cuentavoz/fdf2c082-f526-5e3d-b5a9-2784467fe58c/scratchpad/pitch/icons/build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2004" y="4939040"/>
            <a:ext cx="317480" cy="317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828800" y="455371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Escalable a toda la operación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828800" y="4965192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plataforma sirve para una bodega o para las 54 — y para las que vengan.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400800" y="438912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1634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Shape 16"/>
          <p:cNvSpPr/>
          <p:nvPr/>
        </p:nvSpPr>
        <p:spPr>
          <a:xfrm>
            <a:off x="6675120" y="4814316"/>
            <a:ext cx="566928" cy="56692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3" name="Image 4" descr="/tmp/claude-0/-home-user-cuentavoz/fdf2c082-f526-5e3d-b5a9-2784467fe58c/scratchpad/pitch/icons/utensil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9844" y="4939040"/>
            <a:ext cx="317480" cy="3174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406640" y="455371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tiempo digitando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7406640" y="4965192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tiempo en la cocina: la voz es más rápida que el teclado, y el teclado sigue como respaldo.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CuentaVoz · StockXperts</a:t>
            </a:r>
            <a:endParaRPr lang="en-US" sz="1000" dirty="0"/>
          </a:p>
        </p:txBody>
      </p:sp>
    </p:spTree>
  </p:cSld>
  <p:clrMapOvr>
    <a:masterClrMapping/>
  </p:clrMapOvr>
  <p:transition spd="med" advTm="200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12064" cy="512064"/>
          </a:xfrm>
          <a:prstGeom prst="ellipse">
            <a:avLst/>
          </a:prstGeom>
          <a:solidFill>
            <a:srgbClr val="8A6D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" name="Image 0" descr="/tmp/claude-0/-home-user-cuentavoz/fdf2c082-f526-5e3d-b5a9-2784467fe58c/scratchpad/pitch/icons/coi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34" y="588142"/>
            <a:ext cx="286756" cy="2867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57200"/>
            <a:ext cx="101983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Sostenible por diseño: bajo costo, valor real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53312" y="969264"/>
            <a:ext cx="101983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licencias por usuario ni costos ocultos — el valor está en el tiempo y la exactitud que gana Colsubsidio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874520"/>
            <a:ext cx="5257800" cy="4160520"/>
          </a:xfrm>
          <a:prstGeom prst="roundRect">
            <a:avLst>
              <a:gd name="adj" fmla="val 3077"/>
            </a:avLst>
          </a:prstGeom>
          <a:solidFill>
            <a:srgbClr val="10294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1005840" y="216712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FFD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CUESTA OPERARLO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1005840" y="2651760"/>
            <a:ext cx="475488" cy="47548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9" name="Image 1" descr="/tmp/claude-0/-home-user-cuentavoz/fdf2c082-f526-5e3d-b5a9-2784467fe58c/scratchpad/pitch/icons/clou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447" y="2756367"/>
            <a:ext cx="266273" cy="26627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45920" y="263347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en la nube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645920" y="292608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servicios en Render — sitio estático y backend. Sin servidores propios que mantener.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1005840" y="3767328"/>
            <a:ext cx="475488" cy="47548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3" name="Image 2" descr="/tmp/claude-0/-home-user-cuentavoz/fdf2c082-f526-5e3d-b5a9-2784467fe58c/scratchpad/pitch/icons/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447" y="3871935"/>
            <a:ext cx="266273" cy="26627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45920" y="374904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de IA por uso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645920" y="4041648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paga por lo que se usa en la API de Gemini, no una licencia fija por persona.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1005840" y="4882896"/>
            <a:ext cx="475488" cy="47548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7" name="Image 3" descr="/tmp/claude-0/-home-user-cuentavoz/fdf2c082-f526-5e3d-b5a9-2784467fe58c/scratchpad/pitch/icons/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0447" y="4987503"/>
            <a:ext cx="266273" cy="26627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45920" y="486460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licencias por usuario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645920" y="5157216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propio del equipo StockXperts: sumar una bodega o un usuario más no cuesta más.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6309360" y="187452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 QUE GENERA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263640" y="2331720"/>
            <a:ext cx="525780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Shape 16"/>
          <p:cNvSpPr/>
          <p:nvPr/>
        </p:nvSpPr>
        <p:spPr>
          <a:xfrm>
            <a:off x="6464808" y="2660904"/>
            <a:ext cx="512064" cy="512064"/>
          </a:xfrm>
          <a:prstGeom prst="ellipse">
            <a:avLst/>
          </a:prstGeom>
          <a:solidFill>
            <a:srgbClr val="1E7A4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3" name="Image 4" descr="/tmp/claude-0/-home-user-cuentavoz/fdf2c082-f526-5e3d-b5a9-2784467fe58c/scratchpad/pitch/icons/bol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7462" y="2773558"/>
            <a:ext cx="286756" cy="2867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32320" y="2478024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tiempo re-digitando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7132320" y="2788920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voz reemplaza la doble digitación en papel y Excel: el tiempo vuelve a la cocina.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6263640" y="3630168"/>
            <a:ext cx="525780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Shape 20"/>
          <p:cNvSpPr/>
          <p:nvPr/>
        </p:nvSpPr>
        <p:spPr>
          <a:xfrm>
            <a:off x="6464808" y="3959352"/>
            <a:ext cx="512064" cy="512064"/>
          </a:xfrm>
          <a:prstGeom prst="ellipse">
            <a:avLst/>
          </a:prstGeom>
          <a:solidFill>
            <a:srgbClr val="1E7A4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8" name="Image 5" descr="/tmp/claude-0/-home-user-cuentavoz/fdf2c082-f526-5e3d-b5a9-2784467fe58c/scratchpad/pitch/icons/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7462" y="4072006"/>
            <a:ext cx="286756" cy="28675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132320" y="3776472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error humano</a:t>
            </a:r>
            <a:endParaRPr lang="en-US" sz="1350" dirty="0"/>
          </a:p>
        </p:txBody>
      </p:sp>
      <p:sp>
        <p:nvSpPr>
          <p:cNvPr id="30" name="Text 22"/>
          <p:cNvSpPr/>
          <p:nvPr/>
        </p:nvSpPr>
        <p:spPr>
          <a:xfrm>
            <a:off x="7132320" y="4087368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valida en el momento del conteo, no semanas después revisando planillas.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6263640" y="4928616"/>
            <a:ext cx="525780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762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2" name="Shape 24"/>
          <p:cNvSpPr/>
          <p:nvPr/>
        </p:nvSpPr>
        <p:spPr>
          <a:xfrm>
            <a:off x="6464808" y="5257800"/>
            <a:ext cx="512064" cy="512064"/>
          </a:xfrm>
          <a:prstGeom prst="ellipse">
            <a:avLst/>
          </a:prstGeom>
          <a:solidFill>
            <a:srgbClr val="1E7A4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3" name="Image 6" descr="/tmp/claude-0/-home-user-cuentavoz/fdf2c082-f526-5e3d-b5a9-2784467fe58c/scratchpad/pitch/icons/ch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7462" y="5370454"/>
            <a:ext cx="286756" cy="28675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132320" y="5074920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más rápidas</a:t>
            </a:r>
            <a:endParaRPr lang="en-US" sz="1350" dirty="0"/>
          </a:p>
        </p:txBody>
      </p:sp>
      <p:sp>
        <p:nvSpPr>
          <p:cNvPr id="35" name="Text 26"/>
          <p:cNvSpPr/>
          <p:nvPr/>
        </p:nvSpPr>
        <p:spPr>
          <a:xfrm>
            <a:off x="7132320" y="5385816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panel gerencial muestra exactitud y alertas en vivo, sin esperar consolidados.</a:t>
            </a:r>
            <a:endParaRPr lang="en-US" sz="1050" dirty="0"/>
          </a:p>
        </p:txBody>
      </p:sp>
      <p:sp>
        <p:nvSpPr>
          <p:cNvPr id="37" name="Text 27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8" name="Text 28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CuentaVoz · StockXperts</a:t>
            </a:r>
            <a:endParaRPr lang="en-US" sz="1000" dirty="0"/>
          </a:p>
        </p:txBody>
      </p:sp>
    </p:spTree>
  </p:cSld>
  <p:clrMapOvr>
    <a:masterClrMapping/>
  </p:clrMapOvr>
  <p:transition spd="med" advTm="150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12064" cy="512064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" name="Image 0" descr="/tmp/claude-0/-home-user-cuentavoz/fdf2c082-f526-5e3d-b5a9-2784467fe58c/scratchpad/pitch/icons/ro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34" y="588142"/>
            <a:ext cx="286756" cy="2867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57200"/>
            <a:ext cx="101983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Estrategia de adopción dentro de Colsubsidio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53312" y="969264"/>
            <a:ext cx="101983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se apoya sobre la anterior — ya construida, probada y funcionando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354580" y="2203704"/>
            <a:ext cx="3749040" cy="0"/>
          </a:xfrm>
          <a:prstGeom prst="line">
            <a:avLst/>
          </a:prstGeom>
          <a:noFill/>
          <a:ln w="38100">
            <a:solidFill>
              <a:srgbClr val="1E7A4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6103620" y="2203704"/>
            <a:ext cx="3749040" cy="0"/>
          </a:xfrm>
          <a:prstGeom prst="line">
            <a:avLst/>
          </a:prstGeom>
          <a:noFill/>
          <a:ln w="38100">
            <a:solidFill>
              <a:srgbClr val="D8E2EC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5"/>
          <p:cNvSpPr/>
          <p:nvPr/>
        </p:nvSpPr>
        <p:spPr>
          <a:xfrm>
            <a:off x="2025396" y="1874520"/>
            <a:ext cx="658368" cy="658368"/>
          </a:xfrm>
          <a:prstGeom prst="ellipse">
            <a:avLst/>
          </a:prstGeom>
          <a:solidFill>
            <a:srgbClr val="1E7A4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9" name="Image 1" descr="/tmp/claude-0/-home-user-cuentavoz/fdf2c082-f526-5e3d-b5a9-2784467fe58c/scratchpad/pitch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9988" y="2039112"/>
            <a:ext cx="329184" cy="32918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40080" y="2734056"/>
            <a:ext cx="3429000" cy="2935224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889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7"/>
          <p:cNvSpPr/>
          <p:nvPr/>
        </p:nvSpPr>
        <p:spPr>
          <a:xfrm>
            <a:off x="914400" y="2953512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8"/>
          <p:cNvSpPr/>
          <p:nvPr/>
        </p:nvSpPr>
        <p:spPr>
          <a:xfrm>
            <a:off x="914400" y="295351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914400" y="339242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real, en producción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914400" y="3995928"/>
            <a:ext cx="28803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Desplegado en Render — cuentavoz.onrender.com</a:t>
            </a:r>
            <a:endParaRPr lang="en-US" sz="1100" dirty="0"/>
          </a:p>
          <a:p>
            <a:pPr marL="177800" indent="-1778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bodegas y 1.040 artículos reales cargados</a:t>
            </a:r>
            <a:endParaRPr lang="en-US" sz="1100" dirty="0"/>
          </a:p>
          <a:p>
            <a:pPr marL="177800" indent="-1778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Conteo, pedidos y legalización de punta a punta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774436" y="1874520"/>
            <a:ext cx="658368" cy="658368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6" name="Image 2" descr="/tmp/claude-0/-home-user-cuentavoz/fdf2c082-f526-5e3d-b5a9-2784467fe58c/scratchpad/pitch/icons/clip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028" y="2039112"/>
            <a:ext cx="329184" cy="329184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4389120" y="2734056"/>
            <a:ext cx="3429000" cy="2935224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889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3"/>
          <p:cNvSpPr/>
          <p:nvPr/>
        </p:nvSpPr>
        <p:spPr>
          <a:xfrm>
            <a:off x="4663440" y="2953512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E4F0F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4"/>
          <p:cNvSpPr/>
          <p:nvPr/>
        </p:nvSpPr>
        <p:spPr>
          <a:xfrm>
            <a:off x="4663440" y="295351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PASO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663440" y="339242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el ciclo con Colsubsidio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4663440" y="3995928"/>
            <a:ext cx="28803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el archivo oficial de recetas</a:t>
            </a:r>
            <a:endParaRPr lang="en-US" sz="1100" dirty="0"/>
          </a:p>
          <a:p>
            <a:pPr marL="177800" indent="-1778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guiado en un grupo de bodegas reales</a:t>
            </a:r>
            <a:endParaRPr lang="en-US" sz="1100" dirty="0"/>
          </a:p>
          <a:p>
            <a:pPr marL="177800" indent="-1778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el modelo de voz al vocabulario del equipo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9523476" y="1874520"/>
            <a:ext cx="658368" cy="658368"/>
          </a:xfrm>
          <a:prstGeom prst="ellipse">
            <a:avLst/>
          </a:prstGeom>
          <a:solidFill>
            <a:srgbClr val="57575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3" name="Image 3" descr="/tmp/claude-0/-home-user-cuentavoz/fdf2c082-f526-5e3d-b5a9-2784467fe58c/scratchpad/pitch/icons/build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88068" y="2039112"/>
            <a:ext cx="329184" cy="329184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8138160" y="2734056"/>
            <a:ext cx="3429000" cy="2935224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blurRad="88900" dist="25400" dir="54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19"/>
          <p:cNvSpPr/>
          <p:nvPr/>
        </p:nvSpPr>
        <p:spPr>
          <a:xfrm>
            <a:off x="8412480" y="2953512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0"/>
          <p:cNvSpPr/>
          <p:nvPr/>
        </p:nvSpPr>
        <p:spPr>
          <a:xfrm>
            <a:off x="8412480" y="295351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8412480" y="339242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operación de hotelería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8412480" y="3995928"/>
            <a:ext cx="28803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Extender a la operación completa de Colsubsidio</a:t>
            </a:r>
            <a:endParaRPr lang="en-US" sz="1100" dirty="0"/>
          </a:p>
          <a:p>
            <a:pPr marL="177800" indent="-1778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gerencial como estándar de reporte</a:t>
            </a:r>
            <a:endParaRPr lang="en-US" sz="1100" dirty="0"/>
          </a:p>
          <a:p>
            <a:pPr marL="177800" indent="-177800">
              <a:lnSpc>
                <a:spcPct val="122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directa con My Inventory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CuentaVoz · StockXperts</a:t>
            </a:r>
            <a:endParaRPr lang="en-US" sz="1000" dirty="0"/>
          </a:p>
        </p:txBody>
      </p:sp>
    </p:spTree>
  </p:cSld>
  <p:clrMapOvr>
    <a:masterClrMapping/>
  </p:clrMapOvr>
  <p:transition spd="med" advTm="150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743200"/>
            <a:ext cx="6400800" cy="6400800"/>
          </a:xfrm>
          <a:prstGeom prst="ellipse">
            <a:avLst/>
          </a:prstGeom>
          <a:solidFill>
            <a:srgbClr val="1634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640080" y="475488"/>
            <a:ext cx="512064" cy="512064"/>
          </a:xfrm>
          <a:prstGeom prst="ellipse">
            <a:avLst/>
          </a:prstGeom>
          <a:solidFill>
            <a:srgbClr val="8A6D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0" descr="/tmp/claude-0/-home-user-cuentavoz/fdf2c082-f526-5e3d-b5a9-2784467fe58c/scratchpad/pitch/icons/handsh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34" y="588142"/>
            <a:ext cx="286756" cy="2867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53312" y="457200"/>
            <a:ext cx="101983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necesitamos de Colsubsidio hoy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353312" y="969264"/>
            <a:ext cx="101983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compromisos concretos para pasar del prototipo al piloto real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" y="2318004"/>
            <a:ext cx="621792" cy="621792"/>
          </a:xfrm>
          <a:prstGeom prst="ellipse">
            <a:avLst/>
          </a:prstGeom>
          <a:solidFill>
            <a:srgbClr val="FFD0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8" name="Image 1" descr="/tmp/claude-0/-home-user-cuentavoz/fdf2c082-f526-5e3d-b5a9-2784467fe58c/scratchpad/pitch/icons/handsh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2473452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91640" y="21945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sponsor dentro de Operaciones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691640" y="258775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Alguien del equipo de bodegas o compras que apruebe y acompañe el piloto.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22960" y="3177540"/>
            <a:ext cx="10607040" cy="0"/>
          </a:xfrm>
          <a:prstGeom prst="line">
            <a:avLst/>
          </a:prstGeom>
          <a:noFill/>
          <a:ln w="9525">
            <a:solidFill>
              <a:srgbClr val="2B4C7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8"/>
          <p:cNvSpPr/>
          <p:nvPr/>
        </p:nvSpPr>
        <p:spPr>
          <a:xfrm>
            <a:off x="822960" y="3415284"/>
            <a:ext cx="621792" cy="621792"/>
          </a:xfrm>
          <a:prstGeom prst="ellipse">
            <a:avLst/>
          </a:prstGeom>
          <a:solidFill>
            <a:srgbClr val="FFD0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3" name="Image 2" descr="/tmp/claude-0/-home-user-cuentavoz/fdf2c082-f526-5e3d-b5a9-2784467fe58c/scratchpad/pitch/icons/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3570732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91640" y="32918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al archivo oficial de recetas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691640" y="368503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cerrar el ciclo de pedidos automáticos que ya está construido.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22960" y="4274820"/>
            <a:ext cx="10607040" cy="0"/>
          </a:xfrm>
          <a:prstGeom prst="line">
            <a:avLst/>
          </a:prstGeom>
          <a:noFill/>
          <a:ln w="9525">
            <a:solidFill>
              <a:srgbClr val="2B4C7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2"/>
          <p:cNvSpPr/>
          <p:nvPr/>
        </p:nvSpPr>
        <p:spPr>
          <a:xfrm>
            <a:off x="822960" y="4512564"/>
            <a:ext cx="621792" cy="621792"/>
          </a:xfrm>
          <a:prstGeom prst="ellipse">
            <a:avLst/>
          </a:prstGeom>
          <a:solidFill>
            <a:srgbClr val="FFD0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8" name="Image 3" descr="/tmp/claude-0/-home-user-cuentavoz/fdf2c082-f526-5e3d-b5a9-2784467fe58c/scratchpad/pitch/icons/build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" y="4668012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43891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grupo real de bodegas para el piloto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691640" y="478231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 6 semanas guiadas en cocinas o almacenes reales, con StockXperts presente.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822960" y="5372100"/>
            <a:ext cx="10607040" cy="0"/>
          </a:xfrm>
          <a:prstGeom prst="line">
            <a:avLst/>
          </a:prstGeom>
          <a:noFill/>
          <a:ln w="9525">
            <a:solidFill>
              <a:srgbClr val="2B4C7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16"/>
          <p:cNvSpPr/>
          <p:nvPr/>
        </p:nvSpPr>
        <p:spPr>
          <a:xfrm>
            <a:off x="822960" y="5609844"/>
            <a:ext cx="621792" cy="621792"/>
          </a:xfrm>
          <a:prstGeom prst="ellipse">
            <a:avLst/>
          </a:prstGeom>
          <a:solidFill>
            <a:srgbClr val="FFD0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3" name="Image 4" descr="/tmp/claude-0/-home-user-cuentavoz/fdf2c082-f526-5e3d-b5a9-2784467fe58c/scratchpad/pitch/icons/calend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408" y="5765292"/>
            <a:ext cx="310896" cy="31089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691640" y="54864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minutos cada dos semanas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1691640" y="587959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revisión corta con la gerencia para ajustar el rumbo con datos reales del piloto.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CuentaVoz · StockXperts</a:t>
            </a:r>
            <a:endParaRPr lang="en-US" sz="1000" dirty="0"/>
          </a:p>
        </p:txBody>
      </p:sp>
    </p:spTree>
  </p:cSld>
  <p:clrMapOvr>
    <a:masterClrMapping/>
  </p:clrMapOvr>
  <p:transition spd="med" advTm="250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512064" cy="512064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" name="Image 0" descr="/tmp/claude-0/-home-user-cuentavoz/fdf2c082-f526-5e3d-b5a9-2784467fe58c/scratchpad/pitch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34" y="588142"/>
            <a:ext cx="286756" cy="2867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457200"/>
            <a:ext cx="101983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2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Equipo StockXperts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53312" y="969264"/>
            <a:ext cx="101983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75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personas detrás de CuentaVoz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CuentaVoz · StockXperts</a:t>
            </a:r>
            <a:endParaRPr lang="en-US" sz="1000" dirty="0"/>
          </a:p>
        </p:txBody>
      </p:sp>
      <p:sp>
        <p:nvSpPr>
          <p:cNvPr id="30" name="Rectangle 29"/>
          <p:cNvSpPr/>
          <p:nvPr/>
        </p:nvSpPr>
        <p:spPr>
          <a:xfrm>
            <a:off x="1353312" y="1389888"/>
            <a:ext cx="914400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40080" y="1874519"/>
            <a:ext cx="2606040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58368" y="1874519"/>
            <a:ext cx="2569464" cy="54864"/>
          </a:xfrm>
          <a:prstGeom prst="rect">
            <a:avLst/>
          </a:prstGeom>
          <a:solidFill>
            <a:srgbClr val="0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Lu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431" y="2212848"/>
            <a:ext cx="1554480" cy="155448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22959" y="3904487"/>
            <a:ext cx="2240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3158"/>
                </a:solidFill>
                <a:latin typeface="Aptos Display"/>
              </a:rPr>
              <a:t>Luis Guillermo Nieto Patiño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59" y="4663440"/>
            <a:ext cx="2240280" cy="566928"/>
          </a:xfrm>
          <a:prstGeom prst="roundRect">
            <a:avLst/>
          </a:prstGeom>
          <a:solidFill>
            <a:srgbClr val="F2F6FA"/>
          </a:solidFill>
          <a:ln w="10160">
            <a:solidFill>
              <a:srgbClr val="CDD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32688" y="4736592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1">
                <a:solidFill>
                  <a:srgbClr val="0B4F8A"/>
                </a:solidFill>
                <a:latin typeface="Aptos"/>
              </a:rPr>
              <a:t>Diseño funcional y experiencia de usuario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502152" y="1874519"/>
            <a:ext cx="2606040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520440" y="1874519"/>
            <a:ext cx="2569464" cy="54864"/>
          </a:xfrm>
          <a:prstGeom prst="rect">
            <a:avLst/>
          </a:prstGeom>
          <a:solidFill>
            <a:srgbClr val="0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685032" y="3904487"/>
            <a:ext cx="2240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3158"/>
                </a:solidFill>
                <a:latin typeface="Aptos Display"/>
              </a:rPr>
              <a:t>Luz Stephanie Puentes Morantes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85032" y="4663440"/>
            <a:ext cx="2240280" cy="566928"/>
          </a:xfrm>
          <a:prstGeom prst="roundRect">
            <a:avLst/>
          </a:prstGeom>
          <a:solidFill>
            <a:srgbClr val="F2F6FA"/>
          </a:solidFill>
          <a:ln w="10160">
            <a:solidFill>
              <a:srgbClr val="CDD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794760" y="4736592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1">
                <a:solidFill>
                  <a:srgbClr val="0B4F8A"/>
                </a:solidFill>
                <a:latin typeface="Aptos"/>
              </a:rPr>
              <a:t>Validación funcional y apoyo al desarrollo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64224" y="1874519"/>
            <a:ext cx="2606040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382512" y="1874519"/>
            <a:ext cx="2569464" cy="54864"/>
          </a:xfrm>
          <a:prstGeom prst="rect">
            <a:avLst/>
          </a:prstGeom>
          <a:solidFill>
            <a:srgbClr val="0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Valenti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4576" y="2212848"/>
            <a:ext cx="1554480" cy="155448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547104" y="3904487"/>
            <a:ext cx="2240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3158"/>
                </a:solidFill>
                <a:latin typeface="Aptos Display"/>
              </a:rPr>
              <a:t>Valentina Burbano Salazar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47104" y="4663440"/>
            <a:ext cx="2240280" cy="566928"/>
          </a:xfrm>
          <a:prstGeom prst="roundRect">
            <a:avLst/>
          </a:prstGeom>
          <a:solidFill>
            <a:srgbClr val="F2F6FA"/>
          </a:solidFill>
          <a:ln w="10160">
            <a:solidFill>
              <a:srgbClr val="CDD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656832" y="4736592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1">
                <a:solidFill>
                  <a:srgbClr val="0B4F8A"/>
                </a:solidFill>
                <a:latin typeface="Aptos"/>
              </a:rPr>
              <a:t>Desarrollo Full Stack, arquitectura e integración de IA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226296" y="1874519"/>
            <a:ext cx="2606040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244584" y="1874519"/>
            <a:ext cx="2569464" cy="54864"/>
          </a:xfrm>
          <a:prstGeom prst="rect">
            <a:avLst/>
          </a:prstGeom>
          <a:solidFill>
            <a:srgbClr val="0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409176" y="3904487"/>
            <a:ext cx="2240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3158"/>
                </a:solidFill>
                <a:latin typeface="Aptos Display"/>
              </a:rPr>
              <a:t>Diana Carolina Argüello Casallas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409176" y="4663440"/>
            <a:ext cx="2240280" cy="566928"/>
          </a:xfrm>
          <a:prstGeom prst="roundRect">
            <a:avLst/>
          </a:prstGeom>
          <a:solidFill>
            <a:srgbClr val="F2F6FA"/>
          </a:solidFill>
          <a:ln w="10160">
            <a:solidFill>
              <a:srgbClr val="CDD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518904" y="4736592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1">
                <a:solidFill>
                  <a:srgbClr val="0B4F8A"/>
                </a:solidFill>
                <a:latin typeface="Aptos"/>
              </a:rPr>
              <a:t>Análisis de requerimientos y documentación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57607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B6573"/>
                </a:solidFill>
                <a:latin typeface="Aptos"/>
              </a:rPr>
              <a:t>Equipo multidisciplinario · producto, tecnología, datos y validación funcional</a:t>
            </a:r>
          </a:p>
        </p:txBody>
      </p:sp>
      <p:pic>
        <p:nvPicPr>
          <p:cNvPr id="56" name="Picture 55" descr="Luz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2504" y="2212848"/>
            <a:ext cx="1554480" cy="1554480"/>
          </a:xfrm>
          <a:prstGeom prst="rect">
            <a:avLst/>
          </a:prstGeom>
        </p:spPr>
      </p:pic>
      <p:pic>
        <p:nvPicPr>
          <p:cNvPr id="57" name="Picture 56" descr="diana_circular_cle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56648" y="2212848"/>
            <a:ext cx="1554480" cy="1554480"/>
          </a:xfrm>
          <a:prstGeom prst="rect">
            <a:avLst/>
          </a:prstGeom>
        </p:spPr>
      </p:pic>
    </p:spTree>
  </p:cSld>
  <p:clrMapOvr>
    <a:masterClrMapping/>
  </p:clrMapOvr>
  <p:transition spd="med" advTm="100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6400800" cy="6400800"/>
          </a:xfrm>
          <a:prstGeom prst="ellipse">
            <a:avLst/>
          </a:prstGeom>
          <a:solidFill>
            <a:srgbClr val="1634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16346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41248" y="214884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D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Quedamos atentos a sus preguntas y a dar el siguiente paso juntos.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41248" y="2880360"/>
            <a:ext cx="457200" cy="457200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7" name="Image 0" descr="/tmp/claude-0/-home-user-cuentavoz/fdf2c082-f526-5e3d-b5a9-2784467fe58c/scratchpad/pitch/icons/whatsap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118" y="298323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81328" y="28620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Escríbanos por WhatsApp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481328" y="309981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313 389 8638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41248" y="3502152"/>
            <a:ext cx="457200" cy="457200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1" name="Image 1" descr="/tmp/claude-0/-home-user-cuentavoz/fdf2c082-f526-5e3d-b5a9-2784467fe58c/scratchpad/pitch/icons/gl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118" y="3605022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81328" y="34838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481328" y="3721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cuentavoz.onrender.com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41248" y="4123944"/>
            <a:ext cx="457200" cy="457200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5" name="Image 2" descr="/tmp/claude-0/-home-user-cuentavoz/fdf2c082-f526-5e3d-b5a9-2784467fe58c/scratchpad/pitch/icons/vide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118" y="4226814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81328" y="410565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 presentación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1481328" y="43434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youtube.com/watch?v=4tSRTV5POd4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841248" y="4745736"/>
            <a:ext cx="457200" cy="457200"/>
          </a:xfrm>
          <a:prstGeom prst="ellipse">
            <a:avLst/>
          </a:prstGeom>
          <a:solidFill>
            <a:srgbClr val="0067B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9" name="Image 3" descr="/tmp/claude-0/-home-user-cuentavoz/fdf2c082-f526-5e3d-b5a9-2784467fe58c/scratchpad/pitch/icons/githu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118" y="4848606"/>
            <a:ext cx="251460" cy="2514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81328" y="47274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y documentación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1481328" y="49651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github.com/lnieto044/cuentavoz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841248" y="5440680"/>
            <a:ext cx="4754880" cy="0"/>
          </a:xfrm>
          <a:prstGeom prst="line">
            <a:avLst/>
          </a:prstGeom>
          <a:noFill/>
          <a:ln w="12700">
            <a:solidFill>
              <a:srgbClr val="2B4C7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17"/>
          <p:cNvSpPr/>
          <p:nvPr/>
        </p:nvSpPr>
        <p:spPr>
          <a:xfrm>
            <a:off x="841248" y="5577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de prueba: luis / diana  ·  PIN: StockXperts</a:t>
            </a:r>
            <a:endParaRPr lang="en-US" sz="1100" dirty="0"/>
          </a:p>
        </p:txBody>
      </p:sp>
      <p:pic>
        <p:nvPicPr>
          <p:cNvPr id="24" name="Image 4" descr="/home/user/cuentavoz/frontend/public/colsubsidio-blanc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0" y="5806440"/>
            <a:ext cx="2011680" cy="38404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41248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8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StockXperts · Hackathon Colsubsidio × 30X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9482328" y="1207008"/>
            <a:ext cx="2066544" cy="2304288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27" name="Image 5" descr="/tmp/claude-0/-home-user-cuentavoz/fdf2c082-f526-5e3d-b5a9-2784467fe58c/scratchpad/pitch/icons/qr_dem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46920" y="1371600"/>
            <a:ext cx="1737360" cy="17373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482328" y="3163824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2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 y pruébelo</a:t>
            </a:r>
            <a:endParaRPr lang="en-US" sz="1050" dirty="0"/>
          </a:p>
        </p:txBody>
      </p:sp>
    </p:spTree>
  </p:cSld>
  <p:clrMapOvr>
    <a:masterClrMapping/>
  </p:clrMapOvr>
  <p:transition spd="med" advTm="100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2242</Words>
  <Application>Microsoft Office PowerPoint</Application>
  <PresentationFormat>Panorámica</PresentationFormat>
  <Paragraphs>289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Usuario</cp:lastModifiedBy>
  <cp:revision>3</cp:revision>
  <dcterms:created xsi:type="dcterms:W3CDTF">2026-08-17T22:17:40Z</dcterms:created>
  <dcterms:modified xsi:type="dcterms:W3CDTF">2026-08-18T01:22:14Z</dcterms:modified>
</cp:coreProperties>
</file>